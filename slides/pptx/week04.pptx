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Hook: type one quote mark into a login box and become admin — promise that demo. Injection is the oldest trick that still works. Today they exploit it, then fix it for real. ~2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Roadmap, 1 min. Tell them the one big idea (data becomes code) unifies SQLi, command injection, and even XSS next week. Lab = exploit DVWA/Juice Shop then patch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1-min bridge. Last week we protected data at rest; today the attacker sends malicious data IN. Cold-call: "how should we store passwords?" to check W3 stuck.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mental model for the whole week — say it twice. Every injection is the same shape: an interpreter can't tell your data from its own instructions. Ask the class to name interpreters in a typical app (DB, shell, template). ~5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the string-concatenation on the board: show how the quote in the input lands inside the SQL string and breaks out. This app is SQLite via Python's sqlite3 module — no stacked queries, no blind SQLi task this week (that's UNION-based, direct-output only). Don't promise a DROP TABLE demo works here; it doesn't. ~7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Live payoff for "the quote lands inside the string and breaks out" — the sim renders the actual token boundaries shifting as they type, so the break-out is something they watch happen, not a claim on a slide. ~4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worked example — slow down here. Decompose the payload token by token; this is exactly the SQLi Boss Fight's auth-bypass hit. A common wrong instinct is to add `OR 1=1` and a `LIMIT` clause copied from a MySQL tutorial — walk through why neither is needed against this SQLite app, and why the bare `'--` is what the worksheet actually uses. ~8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worked example — slow down here. Decompose the payload token by token; this is exactly the SQLi Boss Fight's auth-bypass hit. A common wrong instinct is to add `OR 1=1` and a `LIMIT` clause copied from a MySQL tutorial — walk through why neither is needed against this SQLite app, and why the bare `'--` is what the worksheet actually uses. ~8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Make it real — these are careers ended and companies fined. Equifax = a single unpatched input parser. Tie back: every breach here started as "untrusted data interpreted as code". ~4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 principle that recurs all term. Block-lists always lose (attackers invent new payloads); allow-lists define what's acceptable. Emphasize: validation is defense-in-depth, NOT the primary SQLi fix (that's parameterization — next). ~4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Point out injection isn't just login boxes — any input reaching an interpreter. Note verbose DB errors are a gift to attackers (schema leakage). Be clear Burp/sqlmap are industry-awareness, not something this week's worksheet has them install — every task here is a plain URL/curl payload. ~3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Same pattern, deadlier outcome (RCE = own the server, not just the DB). Walk the metacharacters: `;` chains a second command. Ask: "what does `8.8.8.8; cat /etc/passwd` run?" ~5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Connects to W1's /upload threat model. Be precise: this app does NOT give you a working webshell today — Task 4 is a documentation exercise ("what's missing, and why does that stop RCE?"), not a live exploit. Don't imply students will pop a shell; they'll reason about the one control standing between this bug and that outcome. ~5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Connects to W1's /upload threat model. Be precise: this app does NOT give you a working webshell today — Task 4 is a documentation exercise ("what's missing, and why does that stop RCE?"), not a live exploit. Don't imply students will pop a shell; they'll reason about the one control standing between this bug and that outcome. ~5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They map every lab finding to a CWE id — these three are what this week's worksheet actually grades. CWE-434 is a quarter of the exploitation score; don't drop it from this list. ~1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payoff. #1 message: parameterization makes data STAY data — the DB never parses it as SQL. For shells, pass an argv array, not a string. Least-privilege limits blast radius if they still get in. ~5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Synthesis slide — the SAME untrusted value from request.args/request.files is what feeds all three attacks just covered. Land on the closing line: escaping quotes does nothing to a semicolon in a shell, and a safe filename does nothing to SQL. Sets up "Defenses" as three separate fixes, not one. ~4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before lab: this is NOT a tiered WAF-bypass ladder — it's 4 fixed attacks against app.py, then proving solution_app.py blocks all 4 ("boss defeated" = Task 5). No filter exists in the vulnerable app to bypass; don't set that expectation. DVWA/Juice Shop remain available as optional secondary targets, not the graded game. ~3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before lab: this is NOT a tiered WAF-bypass ladder — it's 4 fixed attacks against app.py, then proving solution_app.py blocks all 4 ("boss defeated" = Task 5). No filter exists in the vulnerable app to bypass; don't set that expectation. DVWA/Juice Shop remain available as optional secondary targets, not the graded game. ~3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Logistics. Circulate with TAs. Remind: step 4 (rewrite + prove the payload now fails) is graded, not just the exploit. Also kick off the NoteVault project injection task (worksheet).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Logistics. Circulate with TAs. Remind: step 4 (rewrite + prove the payload now fails) is graded, not just the exploit. Also kick off the NoteVault project injection task (worksheet).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Set expectations: before AND after code + proof. The AI-resilient tasks are part of the grade. Q6 of this week's quiz asks for their own payload — confirm the current worksheet's exact wording before promising a "personal flag" on stage; check with the team if that's still accurate.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Recap in 3 lines. Cold-call: "what's the ONE fix for SQLi?" (parameterized queries). ~2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Cliffhanger: "Next week the same trick runs in the victim's browser — and skims credit cards." Remind DVWA/Juice Shop ready in their VM.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pop7/Library/CloudStorage/OneDrive-MonsterConnectCo.,Ltd/Lecture/KOSEN69 - software-security/slides/pptx/assets/logo-sma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502920"/>
            <a:ext cx="1691640" cy="67665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178308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300" kern="0" dirty="0">
                <a:solidFill>
                  <a:srgbClr val="E352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4</a:t>
            </a:r>
            <a:endParaRPr lang="en-US" sz="1800" dirty="0"/>
          </a:p>
        </p:txBody>
      </p:sp>
      <p:sp>
        <p:nvSpPr>
          <p:cNvPr id="4" name="Text 1"/>
          <p:cNvSpPr/>
          <p:nvPr/>
        </p:nvSpPr>
        <p:spPr>
          <a:xfrm>
            <a:off x="603504" y="2240280"/>
            <a:ext cx="7955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0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Injection &amp; Input Handling</a:t>
            </a:r>
            <a:endParaRPr lang="en-US" sz="4000" dirty="0"/>
          </a:p>
        </p:txBody>
      </p:sp>
      <p:sp>
        <p:nvSpPr>
          <p:cNvPr id="5" name="Text 2"/>
          <p:cNvSpPr/>
          <p:nvPr/>
        </p:nvSpPr>
        <p:spPr>
          <a:xfrm>
            <a:off x="640080" y="384048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Security · Nutthakorn Chalaemwongwan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30352" cy="530352"/>
          </a:xfrm>
          <a:prstGeom prst="ellipse">
            <a:avLst/>
          </a:prstGeom>
          <a:solidFill>
            <a:srgbClr val="E35205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521208"/>
            <a:ext cx="256032" cy="2560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329184"/>
            <a:ext cx="7498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1325880"/>
            <a:ext cx="8229600" cy="2139696"/>
          </a:xfrm>
          <a:prstGeom prst="roundRect">
            <a:avLst>
              <a:gd name="adj" fmla="val 3419"/>
            </a:avLst>
          </a:prstGeom>
          <a:solidFill>
            <a:srgbClr val="F1F5F9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31520" y="1435608"/>
            <a:ext cx="76809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injection is still #1-class of bug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general injection pattern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injection — hands-on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 injection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Defenses: parameterized queries + validation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🎮 Game: SQLi Boss Fight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57200" y="480060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Security · Week 4</a:t>
            </a:r>
            <a:endParaRPr lang="en-US" sz="900" dirty="0"/>
          </a:p>
        </p:txBody>
      </p:sp>
      <p:pic>
        <p:nvPicPr>
          <p:cNvPr id="8" name="Image 1" descr="/Users/pop7/Library/CloudStorage/OneDrive-MonsterConnectCo.,Ltd/Lecture/KOSEN69 - software-security/slides/pptx/assets/logo-smal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8" y="4700016"/>
            <a:ext cx="768096" cy="35661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30352" cy="530352"/>
          </a:xfrm>
          <a:prstGeom prst="ellipse">
            <a:avLst/>
          </a:prstGeom>
          <a:solidFill>
            <a:srgbClr val="E35205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521208"/>
            <a:ext cx="256032" cy="2560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329184"/>
            <a:ext cx="7498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Recap — Week 3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1325880"/>
            <a:ext cx="8229600" cy="1207008"/>
          </a:xfrm>
          <a:prstGeom prst="roundRect">
            <a:avLst>
              <a:gd name="adj" fmla="val 6061"/>
            </a:avLst>
          </a:prstGeom>
          <a:solidFill>
            <a:srgbClr val="F1F5F9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31520" y="1435608"/>
            <a:ext cx="768096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Crypto failures: ECB, weak hashes, hardcoded keys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Hashing ≠ encryption ≠ encoding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vetted KDFs (bcrypt/argon2) + authenticated encryption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57200" y="480060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Security · Week 4</a:t>
            </a:r>
            <a:endParaRPr lang="en-US" sz="900" dirty="0"/>
          </a:p>
        </p:txBody>
      </p:sp>
      <p:pic>
        <p:nvPicPr>
          <p:cNvPr id="8" name="Image 1" descr="/Users/pop7/Library/CloudStorage/OneDrive-MonsterConnectCo.,Ltd/Lecture/KOSEN69 - software-security/slides/pptx/assets/logo-smal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8" y="4700016"/>
            <a:ext cx="768096" cy="35661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30352" cy="530352"/>
          </a:xfrm>
          <a:prstGeom prst="ellipse">
            <a:avLst/>
          </a:prstGeom>
          <a:solidFill>
            <a:srgbClr val="E35205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521208"/>
            <a:ext cx="256032" cy="2560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329184"/>
            <a:ext cx="7498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injection pattern (one idea)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1325880"/>
            <a:ext cx="8229600" cy="822960"/>
          </a:xfrm>
          <a:prstGeom prst="roundRect">
            <a:avLst>
              <a:gd name="adj" fmla="val 8889"/>
            </a:avLst>
          </a:prstGeom>
          <a:solidFill>
            <a:srgbClr val="E8EDF3"/>
          </a:solidFill>
          <a:ln/>
        </p:spPr>
      </p:sp>
      <p:sp>
        <p:nvSpPr>
          <p:cNvPr id="6" name="Text 3"/>
          <p:cNvSpPr/>
          <p:nvPr/>
        </p:nvSpPr>
        <p:spPr>
          <a:xfrm>
            <a:off x="731520" y="132588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i="1" dirty="0">
                <a:solidFill>
                  <a:srgbClr val="E352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Untrusted data gets interpreted as code/commands.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457200" y="2313432"/>
            <a:ext cx="8229600" cy="1207008"/>
          </a:xfrm>
          <a:prstGeom prst="roundRect">
            <a:avLst>
              <a:gd name="adj" fmla="val 6061"/>
            </a:avLst>
          </a:prstGeom>
          <a:solidFill>
            <a:srgbClr val="F1F5F9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731520" y="2423160"/>
            <a:ext cx="768096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Attacker input crosses a trust boundary into an interpreter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SQL, OS shell, LDAP, XPath, template engines, NoSQL…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Maps to OWASP A05:2025 Injection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457200" y="480060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Security · Week 4</a:t>
            </a:r>
            <a:endParaRPr lang="en-US" sz="900" dirty="0"/>
          </a:p>
        </p:txBody>
      </p:sp>
      <p:pic>
        <p:nvPicPr>
          <p:cNvPr id="10" name="Image 1" descr="/Users/pop7/Library/CloudStorage/OneDrive-MonsterConnectCo.,Ltd/Lecture/KOSEN69 - software-security/slides/pptx/assets/logo-smal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8" y="4700016"/>
            <a:ext cx="768096" cy="35661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30352" cy="530352"/>
          </a:xfrm>
          <a:prstGeom prst="ellipse">
            <a:avLst/>
          </a:prstGeom>
          <a:solidFill>
            <a:srgbClr val="E35205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521208"/>
            <a:ext cx="256032" cy="2560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329184"/>
            <a:ext cx="7498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 injection — how it works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1325880"/>
            <a:ext cx="8229600" cy="713232"/>
          </a:xfrm>
          <a:prstGeom prst="roundRect">
            <a:avLst>
              <a:gd name="adj" fmla="val 7692"/>
            </a:avLst>
          </a:prstGeom>
          <a:solidFill>
            <a:srgbClr val="0A1020"/>
          </a:solidFill>
          <a:ln w="12700">
            <a:solidFill>
              <a:srgbClr val="E8EDF3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40080" y="1399032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9FE7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vulnerable (this week's app.py, SQLite)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9FE7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"SELECT * FROM users WHERE username = '" + input + "'"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457200" y="2203704"/>
            <a:ext cx="8229600" cy="1609344"/>
          </a:xfrm>
          <a:prstGeom prst="roundRect">
            <a:avLst>
              <a:gd name="adj" fmla="val 4545"/>
            </a:avLst>
          </a:prstGeom>
          <a:solidFill>
            <a:srgbClr val="F1F5F9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731520" y="2313432"/>
            <a:ext cx="7680960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' OR '1'='1 → always true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UNION-based → read other tables in one shot (today's lab)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Stacked queries ('; DROP TABLE users; --) are the textbook example, but don't assume they work everywhere — Python's sqlite3 refuses multiple statements in one execute() call; this week's target raises an error instead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457200" y="480060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Security · Week 4</a:t>
            </a:r>
            <a:endParaRPr lang="en-US" sz="900" dirty="0"/>
          </a:p>
        </p:txBody>
      </p:sp>
      <p:pic>
        <p:nvPicPr>
          <p:cNvPr id="10" name="Image 1" descr="/Users/pop7/Library/CloudStorage/OneDrive-MonsterConnectCo.,Ltd/Lecture/KOSEN69 - software-security/slides/pptx/assets/logo-smal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8" y="4700016"/>
            <a:ext cx="768096" cy="35661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30352" cy="530352"/>
          </a:xfrm>
          <a:prstGeom prst="ellipse">
            <a:avLst/>
          </a:prstGeom>
          <a:solidFill>
            <a:srgbClr val="E35205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521208"/>
            <a:ext cx="256032" cy="2560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329184"/>
            <a:ext cx="7498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Try it — watch the parse tree change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548640" y="132588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an input. See exactly where the quote breaks out of the string.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it live: /sim/sqli-parse (interactive simulation, web only)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457200" y="480060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Security · Week 4</a:t>
            </a:r>
            <a:endParaRPr lang="en-US" sz="900" dirty="0"/>
          </a:p>
        </p:txBody>
      </p:sp>
      <p:pic>
        <p:nvPicPr>
          <p:cNvPr id="7" name="Image 1" descr="/Users/pop7/Library/CloudStorage/OneDrive-MonsterConnectCo.,Ltd/Lecture/KOSEN69 - software-security/slides/pptx/assets/logo-smal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8" y="4700016"/>
            <a:ext cx="768096" cy="35661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30352" cy="530352"/>
          </a:xfrm>
          <a:prstGeom prst="ellipse">
            <a:avLst/>
          </a:prstGeom>
          <a:solidFill>
            <a:srgbClr val="E35205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521208"/>
            <a:ext cx="256032" cy="2560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329184"/>
            <a:ext cx="7498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 bypass — anatomy of one payload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548640" y="132588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Inject into the username field: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457200" y="1965960"/>
            <a:ext cx="8229600" cy="493776"/>
          </a:xfrm>
          <a:prstGeom prst="roundRect">
            <a:avLst>
              <a:gd name="adj" fmla="val 11111"/>
            </a:avLst>
          </a:prstGeom>
          <a:solidFill>
            <a:srgbClr val="0A1020"/>
          </a:solidFill>
          <a:ln w="12700">
            <a:solidFill>
              <a:srgbClr val="E8EDF3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40080" y="2039112"/>
            <a:ext cx="7863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9FE7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alice'--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457200" y="2624328"/>
            <a:ext cx="8229600" cy="493776"/>
          </a:xfrm>
          <a:prstGeom prst="roundRect">
            <a:avLst>
              <a:gd name="adj" fmla="val 11111"/>
            </a:avLst>
          </a:prstGeom>
          <a:solidFill>
            <a:srgbClr val="0A1020"/>
          </a:solidFill>
          <a:ln w="12700">
            <a:solidFill>
              <a:srgbClr val="E8EDF3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40080" y="2697480"/>
            <a:ext cx="7863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9FE7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* FROM users WHERE username = 'alice'--' AND password = '...';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457200" y="3282696"/>
            <a:ext cx="8229600" cy="896112"/>
          </a:xfrm>
          <a:prstGeom prst="roundRect">
            <a:avLst>
              <a:gd name="adj" fmla="val 8163"/>
            </a:avLst>
          </a:prstGeom>
          <a:solidFill>
            <a:srgbClr val="F1F5F9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731520" y="3392424"/>
            <a:ext cx="76809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 closes the string literal you're injected into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-- comments out everything after it, including the password check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457200" y="480060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Security · Week 4</a:t>
            </a:r>
            <a:endParaRPr lang="en-US" sz="900" dirty="0"/>
          </a:p>
        </p:txBody>
      </p:sp>
      <p:pic>
        <p:nvPicPr>
          <p:cNvPr id="13" name="Image 1" descr="/Users/pop7/Library/CloudStorage/OneDrive-MonsterConnectCo.,Ltd/Lecture/KOSEN69 - software-security/slides/pptx/assets/logo-smal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8" y="4700016"/>
            <a:ext cx="768096" cy="35661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30352" cy="530352"/>
          </a:xfrm>
          <a:prstGeom prst="ellipse">
            <a:avLst/>
          </a:prstGeom>
          <a:solidFill>
            <a:srgbClr val="E35205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521208"/>
            <a:ext cx="256032" cy="2560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329184"/>
            <a:ext cx="7498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 bypass — anatomy of one payload (cont.)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1325880"/>
            <a:ext cx="8229600" cy="987552"/>
          </a:xfrm>
          <a:prstGeom prst="roundRect">
            <a:avLst>
              <a:gd name="adj" fmla="val 7407"/>
            </a:avLst>
          </a:prstGeom>
          <a:solidFill>
            <a:srgbClr val="F1F5F9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31520" y="1435608"/>
            <a:ext cx="7680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trailing space, no LIMIT trick needed — this app is SQLite via fetchone(), not a MySQL row-count gate; don't carry over MySQL-specific folklore ("needs a space after --") — that's a different engine's quirk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57200" y="480060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Security · Week 4</a:t>
            </a:r>
            <a:endParaRPr lang="en-US" sz="900" dirty="0"/>
          </a:p>
        </p:txBody>
      </p:sp>
      <p:pic>
        <p:nvPicPr>
          <p:cNvPr id="8" name="Image 1" descr="/Users/pop7/Library/CloudStorage/OneDrive-MonsterConnectCo.,Ltd/Lecture/KOSEN69 - software-security/slides/pptx/assets/logo-smal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8" y="4700016"/>
            <a:ext cx="768096" cy="35661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30352" cy="530352"/>
          </a:xfrm>
          <a:prstGeom prst="ellipse">
            <a:avLst/>
          </a:prstGeom>
          <a:solidFill>
            <a:srgbClr val="E35205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521208"/>
            <a:ext cx="256032" cy="2560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329184"/>
            <a:ext cx="7498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Real-world impact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1325880"/>
            <a:ext cx="8229600" cy="1719072"/>
          </a:xfrm>
          <a:prstGeom prst="roundRect">
            <a:avLst>
              <a:gd name="adj" fmla="val 4255"/>
            </a:avLst>
          </a:prstGeom>
          <a:solidFill>
            <a:srgbClr val="F1F5F9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31520" y="1435608"/>
            <a:ext cx="7680960" cy="14996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Equifax (2017): unvalidated HTTP header → Struts RCE (CVE-2017-5638); 147M people, ~$700M settlement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Heartland (2008): SQLi into payment systems → 130M+ cards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Bulgaria: data on almost all adults leaked via SQLi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Impact: data leak/modification, full DB control, DoS, reputation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57200" y="480060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Security · Week 4</a:t>
            </a:r>
            <a:endParaRPr lang="en-US" sz="900" dirty="0"/>
          </a:p>
        </p:txBody>
      </p:sp>
      <p:pic>
        <p:nvPicPr>
          <p:cNvPr id="8" name="Image 1" descr="/Users/pop7/Library/CloudStorage/OneDrive-MonsterConnectCo.,Ltd/Lecture/KOSEN69 - software-security/slides/pptx/assets/logo-smal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8" y="4700016"/>
            <a:ext cx="768096" cy="35661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30352" cy="530352"/>
          </a:xfrm>
          <a:prstGeom prst="ellipse">
            <a:avLst/>
          </a:prstGeom>
          <a:solidFill>
            <a:srgbClr val="E35205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521208"/>
            <a:ext cx="256032" cy="2560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329184"/>
            <a:ext cx="7498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Validate: allow-list, not block-list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1325880"/>
            <a:ext cx="8229600" cy="1517904"/>
          </a:xfrm>
          <a:prstGeom prst="roundRect">
            <a:avLst>
              <a:gd name="adj" fmla="val 4819"/>
            </a:avLst>
          </a:prstGeom>
          <a:solidFill>
            <a:srgbClr val="F1F5F9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31520" y="1435608"/>
            <a:ext cx="768096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Allow-list (preferred): accept only known-good (e.g. 0–9 for a phone)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Block-list: ban known-bad → bypassed by new payloads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type · length · range · format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Client-side for UX, server-side for security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57200" y="480060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Security · Week 4</a:t>
            </a:r>
            <a:endParaRPr lang="en-US" sz="900" dirty="0"/>
          </a:p>
        </p:txBody>
      </p:sp>
      <p:pic>
        <p:nvPicPr>
          <p:cNvPr id="8" name="Image 1" descr="/Users/pop7/Library/CloudStorage/OneDrive-MonsterConnectCo.,Ltd/Lecture/KOSEN69 - software-security/slides/pptx/assets/logo-smal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8" y="4700016"/>
            <a:ext cx="768096" cy="356616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30352" cy="530352"/>
          </a:xfrm>
          <a:prstGeom prst="ellipse">
            <a:avLst/>
          </a:prstGeom>
          <a:solidFill>
            <a:srgbClr val="E35205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521208"/>
            <a:ext cx="256032" cy="2560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329184"/>
            <a:ext cx="7498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 / attack surface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1325880"/>
            <a:ext cx="8229600" cy="1920240"/>
          </a:xfrm>
          <a:prstGeom prst="roundRect">
            <a:avLst>
              <a:gd name="adj" fmla="val 3810"/>
            </a:avLst>
          </a:prstGeom>
          <a:solidFill>
            <a:srgbClr val="F1F5F9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31520" y="1435608"/>
            <a:ext cx="7680960" cy="17007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forms, search boxes, URL params, JSON fields, headers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messages leak schema → enumeration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lab: raw payloads via browser/curl against app.py — no scanner needed to see the mechanism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Burp Suite / sqlmap are real-world tools worth knowing (sandbox-only, ethically) — not required for this week's tasks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57200" y="480060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Security · Week 4</a:t>
            </a:r>
            <a:endParaRPr lang="en-US" sz="900" dirty="0"/>
          </a:p>
        </p:txBody>
      </p:sp>
      <p:pic>
        <p:nvPicPr>
          <p:cNvPr id="8" name="Image 1" descr="/Users/pop7/Library/CloudStorage/OneDrive-MonsterConnectCo.,Ltd/Lecture/KOSEN69 - software-security/slides/pptx/assets/logo-smal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8" y="4700016"/>
            <a:ext cx="768096" cy="356616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30352" cy="530352"/>
          </a:xfrm>
          <a:prstGeom prst="ellipse">
            <a:avLst/>
          </a:prstGeom>
          <a:solidFill>
            <a:srgbClr val="E35205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521208"/>
            <a:ext cx="256032" cy="2560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329184"/>
            <a:ext cx="7498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Command injection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1325880"/>
            <a:ext cx="8229600" cy="713232"/>
          </a:xfrm>
          <a:prstGeom prst="roundRect">
            <a:avLst>
              <a:gd name="adj" fmla="val 7692"/>
            </a:avLst>
          </a:prstGeom>
          <a:solidFill>
            <a:srgbClr val="0A1020"/>
          </a:solidFill>
          <a:ln w="12700">
            <a:solidFill>
              <a:srgbClr val="E8EDF3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40080" y="1399032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9FE7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system("ping -c 1 " . $_GET['host']);   // vulnerable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9FE7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host = 8.8.8.8; cat /etc/passwd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457200" y="2203704"/>
            <a:ext cx="8229600" cy="896112"/>
          </a:xfrm>
          <a:prstGeom prst="roundRect">
            <a:avLst>
              <a:gd name="adj" fmla="val 8163"/>
            </a:avLst>
          </a:prstGeom>
          <a:solidFill>
            <a:srgbClr val="F1F5F9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731520" y="2313432"/>
            <a:ext cx="76809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Shell metacharacters: ; | &amp; $() \ &gt;`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Leads to RCE — full server compromise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457200" y="480060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Security · Week 4</a:t>
            </a:r>
            <a:endParaRPr lang="en-US" sz="900" dirty="0"/>
          </a:p>
        </p:txBody>
      </p:sp>
      <p:pic>
        <p:nvPicPr>
          <p:cNvPr id="10" name="Image 1" descr="/Users/pop7/Library/CloudStorage/OneDrive-MonsterConnectCo.,Ltd/Lecture/KOSEN69 - software-security/slides/pptx/assets/logo-smal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8" y="4700016"/>
            <a:ext cx="768096" cy="356616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30352" cy="530352"/>
          </a:xfrm>
          <a:prstGeom prst="ellipse">
            <a:avLst/>
          </a:prstGeom>
          <a:solidFill>
            <a:srgbClr val="E35205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521208"/>
            <a:ext cx="256032" cy="2560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329184"/>
            <a:ext cx="7498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Upload → RCE (a classic chain)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548640" y="132588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classic chain, attacker uploads shell.php: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457200" y="1965960"/>
            <a:ext cx="8229600" cy="493776"/>
          </a:xfrm>
          <a:prstGeom prst="roundRect">
            <a:avLst>
              <a:gd name="adj" fmla="val 11111"/>
            </a:avLst>
          </a:prstGeom>
          <a:solidFill>
            <a:srgbClr val="0A1020"/>
          </a:solidFill>
          <a:ln w="12700">
            <a:solidFill>
              <a:srgbClr val="E8EDF3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40080" y="2039112"/>
            <a:ext cx="7863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9FE7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&lt;?php system($_GET['cmd']); ?&gt;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457200" y="2624328"/>
            <a:ext cx="8229600" cy="1901952"/>
          </a:xfrm>
          <a:prstGeom prst="roundRect">
            <a:avLst>
              <a:gd name="adj" fmla="val 3846"/>
            </a:avLst>
          </a:prstGeom>
          <a:solidFill>
            <a:srgbClr val="F1F5F9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731520" y="2734056"/>
            <a:ext cx="7680960" cy="16824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upload dir is web-served and PHP-executable: .../uploads/shell.php?cmd=ls%20-l → RCE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week's lab stops one step earlier: CWE-434 unrestricted upload — the app accepts any file type/extension, but the upload directory is not served or executed. Your task: explain which missing control would complete the chain (type check, extension allow-list, storage outside web root, no-exec) — not demonstrate a live shell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457200" y="480060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Security · Week 4</a:t>
            </a:r>
            <a:endParaRPr lang="en-US" sz="900" dirty="0"/>
          </a:p>
        </p:txBody>
      </p:sp>
      <p:pic>
        <p:nvPicPr>
          <p:cNvPr id="11" name="Image 1" descr="/Users/pop7/Library/CloudStorage/OneDrive-MonsterConnectCo.,Ltd/Lecture/KOSEN69 - software-security/slides/pptx/assets/logo-smal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8" y="4700016"/>
            <a:ext cx="768096" cy="356616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30352" cy="530352"/>
          </a:xfrm>
          <a:prstGeom prst="ellipse">
            <a:avLst/>
          </a:prstGeom>
          <a:solidFill>
            <a:srgbClr val="E35205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521208"/>
            <a:ext cx="256032" cy="2560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329184"/>
            <a:ext cx="7498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Upload → RCE (a classic chain) (cont.)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1325880"/>
            <a:ext cx="8229600" cy="786384"/>
          </a:xfrm>
          <a:prstGeom prst="roundRect">
            <a:avLst>
              <a:gd name="adj" fmla="val 9302"/>
            </a:avLst>
          </a:prstGeom>
          <a:solidFill>
            <a:srgbClr val="F1F5F9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31520" y="1435608"/>
            <a:ext cx="7680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validate file type via mime_content_type(), allow-list extensions, store uploads outside web root, no execute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57200" y="480060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Security · Week 4</a:t>
            </a:r>
            <a:endParaRPr lang="en-US" sz="900" dirty="0"/>
          </a:p>
        </p:txBody>
      </p:sp>
      <p:pic>
        <p:nvPicPr>
          <p:cNvPr id="8" name="Image 1" descr="/Users/pop7/Library/CloudStorage/OneDrive-MonsterConnectCo.,Ltd/Lecture/KOSEN69 - software-security/slides/pptx/assets/logo-smal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8" y="4700016"/>
            <a:ext cx="768096" cy="356616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30352" cy="530352"/>
          </a:xfrm>
          <a:prstGeom prst="ellipse">
            <a:avLst/>
          </a:prstGeom>
          <a:solidFill>
            <a:srgbClr val="E35205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521208"/>
            <a:ext cx="256032" cy="2560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329184"/>
            <a:ext cx="7498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CWE mapping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1325880"/>
            <a:ext cx="8229600" cy="1408176"/>
          </a:xfrm>
          <a:prstGeom prst="roundRect">
            <a:avLst>
              <a:gd name="adj" fmla="val 5195"/>
            </a:avLst>
          </a:prstGeom>
          <a:solidFill>
            <a:srgbClr val="F1F5F9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31520" y="1435608"/>
            <a:ext cx="7680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CWE-89 — SQL injection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CWE-78 — OS command injection (CWE-77 is its general parent — cite CWE-78, the specific one)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CWE-434 — unrestricted upload of a dangerous file type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57200" y="480060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Security · Week 4</a:t>
            </a:r>
            <a:endParaRPr lang="en-US" sz="900" dirty="0"/>
          </a:p>
        </p:txBody>
      </p:sp>
      <p:pic>
        <p:nvPicPr>
          <p:cNvPr id="8" name="Image 1" descr="/Users/pop7/Library/CloudStorage/OneDrive-MonsterConnectCo.,Ltd/Lecture/KOSEN69 - software-security/slides/pptx/assets/logo-smal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8" y="4700016"/>
            <a:ext cx="768096" cy="356616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30352" cy="530352"/>
          </a:xfrm>
          <a:prstGeom prst="ellipse">
            <a:avLst/>
          </a:prstGeom>
          <a:solidFill>
            <a:srgbClr val="E35205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521208"/>
            <a:ext cx="256032" cy="2560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329184"/>
            <a:ext cx="7498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Defenses that actually work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1325880"/>
            <a:ext cx="8229600" cy="1828800"/>
          </a:xfrm>
          <a:prstGeom prst="roundRect">
            <a:avLst>
              <a:gd name="adj" fmla="val 4000"/>
            </a:avLst>
          </a:prstGeom>
          <a:solidFill>
            <a:srgbClr val="F1F5F9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31520" y="1435608"/>
            <a:ext cx="7680960" cy="16093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Parameterized queries / prepared statements (the fix for SQLi)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ORM with bound parameters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Allow-list input validation (type, length, format)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 shells: use exec APIs with arg arrays, not string concat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Least-privilege DB accounts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57200" y="480060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Security · Week 4</a:t>
            </a:r>
            <a:endParaRPr lang="en-US" sz="900" dirty="0"/>
          </a:p>
        </p:txBody>
      </p:sp>
      <p:pic>
        <p:nvPicPr>
          <p:cNvPr id="8" name="Image 1" descr="/Users/pop7/Library/CloudStorage/OneDrive-MonsterConnectCo.,Ltd/Lecture/KOSEN69 - software-security/slides/pptx/assets/logo-smal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8" y="4700016"/>
            <a:ext cx="768096" cy="356616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30352" cy="530352"/>
          </a:xfrm>
          <a:prstGeom prst="ellipse">
            <a:avLst/>
          </a:prstGeom>
          <a:solidFill>
            <a:srgbClr val="E35205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521208"/>
            <a:ext cx="256032" cy="2560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329184"/>
            <a:ext cx="7498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value, three interpreters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548640" y="1325880"/>
            <a:ext cx="80467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diagram: One untrusted request value reaches three different interpreters — SQL (CWE-89, fixed by a parameterized query), the OS shell (CWE-78, fixed by an argument vector with shell=False), and a filesystem write (CWE-434, fixed by an extension allow-list). One input filter cannot guard three grammars — the fix belongs at the sink that parses the value, not at the source. (web only)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457200" y="480060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Security · Week 4</a:t>
            </a:r>
            <a:endParaRPr lang="en-US" sz="900" dirty="0"/>
          </a:p>
        </p:txBody>
      </p:sp>
      <p:pic>
        <p:nvPicPr>
          <p:cNvPr id="7" name="Image 1" descr="/Users/pop7/Library/CloudStorage/OneDrive-MonsterConnectCo.,Ltd/Lecture/KOSEN69 - software-security/slides/pptx/assets/logo-smal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8" y="4700016"/>
            <a:ext cx="768096" cy="356616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30352" cy="530352"/>
          </a:xfrm>
          <a:prstGeom prst="ellipse">
            <a:avLst/>
          </a:prstGeom>
          <a:solidFill>
            <a:srgbClr val="E35205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521208"/>
            <a:ext cx="256032" cy="2560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329184"/>
            <a:ext cx="7498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⚔️ Game — SQLi Boss Fight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548640" y="132588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hits against this week's own app — no filters to bypass, the app has none: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502920" y="1965960"/>
            <a:ext cx="384048" cy="384048"/>
          </a:xfrm>
          <a:prstGeom prst="ellipse">
            <a:avLst/>
          </a:prstGeom>
          <a:solidFill>
            <a:srgbClr val="E35205"/>
          </a:solidFill>
          <a:ln/>
        </p:spPr>
      </p:sp>
      <p:sp>
        <p:nvSpPr>
          <p:cNvPr id="7" name="Text 4"/>
          <p:cNvSpPr/>
          <p:nvPr/>
        </p:nvSpPr>
        <p:spPr>
          <a:xfrm>
            <a:off x="502920" y="19659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E17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051560" y="1965960"/>
            <a:ext cx="7589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bypass (alice'--)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502920" y="2441448"/>
            <a:ext cx="384048" cy="384048"/>
          </a:xfrm>
          <a:prstGeom prst="ellipse">
            <a:avLst/>
          </a:prstGeom>
          <a:solidFill>
            <a:srgbClr val="E35205"/>
          </a:solidFill>
          <a:ln/>
        </p:spPr>
      </p:sp>
      <p:sp>
        <p:nvSpPr>
          <p:cNvPr id="10" name="Text 7"/>
          <p:cNvSpPr/>
          <p:nvPr/>
        </p:nvSpPr>
        <p:spPr>
          <a:xfrm>
            <a:off x="502920" y="24414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E17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1051560" y="2441448"/>
            <a:ext cx="7589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UNION dump (steal all credentials)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502920" y="2916936"/>
            <a:ext cx="384048" cy="384048"/>
          </a:xfrm>
          <a:prstGeom prst="ellipse">
            <a:avLst/>
          </a:prstGeom>
          <a:solidFill>
            <a:srgbClr val="E35205"/>
          </a:solidFill>
          <a:ln/>
        </p:spPr>
      </p:sp>
      <p:sp>
        <p:nvSpPr>
          <p:cNvPr id="13" name="Text 10"/>
          <p:cNvSpPr/>
          <p:nvPr/>
        </p:nvSpPr>
        <p:spPr>
          <a:xfrm>
            <a:off x="502920" y="2916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E17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1051560" y="2916936"/>
            <a:ext cx="7589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 injection</a:t>
            </a:r>
            <a:endParaRPr lang="en-US" sz="1350" dirty="0"/>
          </a:p>
        </p:txBody>
      </p:sp>
      <p:sp>
        <p:nvSpPr>
          <p:cNvPr id="15" name="Shape 12"/>
          <p:cNvSpPr/>
          <p:nvPr/>
        </p:nvSpPr>
        <p:spPr>
          <a:xfrm>
            <a:off x="502920" y="3392424"/>
            <a:ext cx="384048" cy="384048"/>
          </a:xfrm>
          <a:prstGeom prst="ellipse">
            <a:avLst/>
          </a:prstGeom>
          <a:solidFill>
            <a:srgbClr val="E35205"/>
          </a:solidFill>
          <a:ln/>
        </p:spPr>
      </p:sp>
      <p:sp>
        <p:nvSpPr>
          <p:cNvPr id="16" name="Text 13"/>
          <p:cNvSpPr/>
          <p:nvPr/>
        </p:nvSpPr>
        <p:spPr>
          <a:xfrm>
            <a:off x="502920" y="33924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E17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1051560" y="3392424"/>
            <a:ext cx="7589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Unrestricted upload</a:t>
            </a:r>
            <a:endParaRPr lang="en-US" sz="1350" dirty="0"/>
          </a:p>
        </p:txBody>
      </p:sp>
      <p:sp>
        <p:nvSpPr>
          <p:cNvPr id="18" name="Text 15"/>
          <p:cNvSpPr/>
          <p:nvPr/>
        </p:nvSpPr>
        <p:spPr>
          <a:xfrm>
            <a:off x="457200" y="480060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Security · Week 4</a:t>
            </a:r>
            <a:endParaRPr lang="en-US" sz="900" dirty="0"/>
          </a:p>
        </p:txBody>
      </p:sp>
      <p:pic>
        <p:nvPicPr>
          <p:cNvPr id="19" name="Image 1" descr="/Users/pop7/Library/CloudStorage/OneDrive-MonsterConnectCo.,Ltd/Lecture/KOSEN69 - software-security/slides/pptx/assets/logo-smal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8" y="4700016"/>
            <a:ext cx="768096" cy="356616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30352" cy="530352"/>
          </a:xfrm>
          <a:prstGeom prst="ellipse">
            <a:avLst/>
          </a:prstGeom>
          <a:solidFill>
            <a:srgbClr val="E35205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521208"/>
            <a:ext cx="256032" cy="2560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329184"/>
            <a:ext cx="7498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⚔️ Game — SQLi Boss Fight (cont.)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502920" y="1325880"/>
            <a:ext cx="384048" cy="384048"/>
          </a:xfrm>
          <a:prstGeom prst="ellipse">
            <a:avLst/>
          </a:prstGeom>
          <a:solidFill>
            <a:srgbClr val="E35205"/>
          </a:solidFill>
          <a:ln/>
        </p:spPr>
      </p:sp>
      <p:sp>
        <p:nvSpPr>
          <p:cNvPr id="6" name="Text 3"/>
          <p:cNvSpPr/>
          <p:nvPr/>
        </p:nvSpPr>
        <p:spPr>
          <a:xfrm>
            <a:off x="502920" y="13258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E17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1051560" y="1325880"/>
            <a:ext cx="7589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Boss defeated: run solution_app.py, prove all four attacks now fail, cite the exact fix line for each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457200" y="480060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Security · Week 4</a:t>
            </a:r>
            <a:endParaRPr lang="en-US" sz="900" dirty="0"/>
          </a:p>
        </p:txBody>
      </p:sp>
      <p:pic>
        <p:nvPicPr>
          <p:cNvPr id="9" name="Image 1" descr="/Users/pop7/Library/CloudStorage/OneDrive-MonsterConnectCo.,Ltd/Lecture/KOSEN69 - software-security/slides/pptx/assets/logo-smal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8" y="4700016"/>
            <a:ext cx="768096" cy="356616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30352" cy="530352"/>
          </a:xfrm>
          <a:prstGeom prst="ellipse">
            <a:avLst/>
          </a:prstGeom>
          <a:solidFill>
            <a:srgbClr val="E35205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521208"/>
            <a:ext cx="256032" cy="2560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329184"/>
            <a:ext cx="7498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 steps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1325880"/>
            <a:ext cx="8229600" cy="822960"/>
          </a:xfrm>
          <a:prstGeom prst="roundRect">
            <a:avLst>
              <a:gd name="adj" fmla="val 8889"/>
            </a:avLst>
          </a:prstGeom>
          <a:solidFill>
            <a:srgbClr val="E8EDF3"/>
          </a:solidFill>
          <a:ln/>
        </p:spPr>
      </p:sp>
      <p:sp>
        <p:nvSpPr>
          <p:cNvPr id="6" name="Text 3"/>
          <p:cNvSpPr/>
          <p:nvPr/>
        </p:nvSpPr>
        <p:spPr>
          <a:xfrm>
            <a:off x="731520" y="132588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i="1" dirty="0">
                <a:solidFill>
                  <a:srgbClr val="E352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Worksheet 4 — labs/week04-injection/worksheet.md (Part 3) · kickoff: docker compose up → http://localhost:8080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457200" y="2313432"/>
            <a:ext cx="8229600" cy="493776"/>
          </a:xfrm>
          <a:prstGeom prst="roundRect">
            <a:avLst>
              <a:gd name="adj" fmla="val 11111"/>
            </a:avLst>
          </a:prstGeom>
          <a:solidFill>
            <a:srgbClr val="0A1020"/>
          </a:solidFill>
          <a:ln w="12700">
            <a:solidFill>
              <a:srgbClr val="E8EDF3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40080" y="2386584"/>
            <a:ext cx="7863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9FE7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run --rm -p 80:80 vulnerables/web-dvwa   # optional extra target (or Juice Shop)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502920" y="2971800"/>
            <a:ext cx="384048" cy="384048"/>
          </a:xfrm>
          <a:prstGeom prst="ellipse">
            <a:avLst/>
          </a:prstGeom>
          <a:solidFill>
            <a:srgbClr val="E35205"/>
          </a:solidFill>
          <a:ln/>
        </p:spPr>
      </p:sp>
      <p:sp>
        <p:nvSpPr>
          <p:cNvPr id="10" name="Text 7"/>
          <p:cNvSpPr/>
          <p:nvPr/>
        </p:nvSpPr>
        <p:spPr>
          <a:xfrm>
            <a:off x="502920" y="2971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E17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1051560" y="2971800"/>
            <a:ext cx="7589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an injectable parameter, bypass auth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502920" y="3447288"/>
            <a:ext cx="384048" cy="384048"/>
          </a:xfrm>
          <a:prstGeom prst="ellipse">
            <a:avLst/>
          </a:prstGeom>
          <a:solidFill>
            <a:srgbClr val="E35205"/>
          </a:solidFill>
          <a:ln/>
        </p:spPr>
      </p:sp>
      <p:sp>
        <p:nvSpPr>
          <p:cNvPr id="13" name="Text 10"/>
          <p:cNvSpPr/>
          <p:nvPr/>
        </p:nvSpPr>
        <p:spPr>
          <a:xfrm>
            <a:off x="502920" y="34472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E17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1051560" y="3447288"/>
            <a:ext cx="7589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data (UNION dump)</a:t>
            </a:r>
            <a:endParaRPr lang="en-US" sz="1350" dirty="0"/>
          </a:p>
        </p:txBody>
      </p:sp>
      <p:sp>
        <p:nvSpPr>
          <p:cNvPr id="15" name="Shape 12"/>
          <p:cNvSpPr/>
          <p:nvPr/>
        </p:nvSpPr>
        <p:spPr>
          <a:xfrm>
            <a:off x="502920" y="3922776"/>
            <a:ext cx="384048" cy="384048"/>
          </a:xfrm>
          <a:prstGeom prst="ellipse">
            <a:avLst/>
          </a:prstGeom>
          <a:solidFill>
            <a:srgbClr val="E35205"/>
          </a:solidFill>
          <a:ln/>
        </p:spPr>
      </p:sp>
      <p:sp>
        <p:nvSpPr>
          <p:cNvPr id="16" name="Text 13"/>
          <p:cNvSpPr/>
          <p:nvPr/>
        </p:nvSpPr>
        <p:spPr>
          <a:xfrm>
            <a:off x="502920" y="39227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E17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1051560" y="3922776"/>
            <a:ext cx="7589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Achieve command injection</a:t>
            </a:r>
            <a:endParaRPr lang="en-US" sz="1350" dirty="0"/>
          </a:p>
        </p:txBody>
      </p:sp>
      <p:sp>
        <p:nvSpPr>
          <p:cNvPr id="18" name="Text 15"/>
          <p:cNvSpPr/>
          <p:nvPr/>
        </p:nvSpPr>
        <p:spPr>
          <a:xfrm>
            <a:off x="457200" y="480060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Security · Week 4</a:t>
            </a:r>
            <a:endParaRPr lang="en-US" sz="900" dirty="0"/>
          </a:p>
        </p:txBody>
      </p:sp>
      <p:pic>
        <p:nvPicPr>
          <p:cNvPr id="19" name="Image 1" descr="/Users/pop7/Library/CloudStorage/OneDrive-MonsterConnectCo.,Ltd/Lecture/KOSEN69 - software-security/slides/pptx/assets/logo-smal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8" y="4700016"/>
            <a:ext cx="768096" cy="356616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30352" cy="530352"/>
          </a:xfrm>
          <a:prstGeom prst="ellipse">
            <a:avLst/>
          </a:prstGeom>
          <a:solidFill>
            <a:srgbClr val="E35205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521208"/>
            <a:ext cx="256032" cy="2560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329184"/>
            <a:ext cx="7498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 steps (cont.)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502920" y="1325880"/>
            <a:ext cx="384048" cy="384048"/>
          </a:xfrm>
          <a:prstGeom prst="ellipse">
            <a:avLst/>
          </a:prstGeom>
          <a:solidFill>
            <a:srgbClr val="E35205"/>
          </a:solidFill>
          <a:ln/>
        </p:spPr>
      </p:sp>
      <p:sp>
        <p:nvSpPr>
          <p:cNvPr id="6" name="Text 3"/>
          <p:cNvSpPr/>
          <p:nvPr/>
        </p:nvSpPr>
        <p:spPr>
          <a:xfrm>
            <a:off x="502920" y="13258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E17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1051560" y="1325880"/>
            <a:ext cx="7589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Probe the upload endpoint — document the missing control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502920" y="1801368"/>
            <a:ext cx="384048" cy="384048"/>
          </a:xfrm>
          <a:prstGeom prst="ellipse">
            <a:avLst/>
          </a:prstGeom>
          <a:solidFill>
            <a:srgbClr val="E35205"/>
          </a:solidFill>
          <a:ln/>
        </p:spPr>
      </p:sp>
      <p:sp>
        <p:nvSpPr>
          <p:cNvPr id="9" name="Text 6"/>
          <p:cNvSpPr/>
          <p:nvPr/>
        </p:nvSpPr>
        <p:spPr>
          <a:xfrm>
            <a:off x="502920" y="18013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E17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1051560" y="1801368"/>
            <a:ext cx="7589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Rewrite the endpoints safely &amp; re-test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457200" y="480060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Security · Week 4</a:t>
            </a:r>
            <a:endParaRPr lang="en-US" sz="900" dirty="0"/>
          </a:p>
        </p:txBody>
      </p:sp>
      <p:pic>
        <p:nvPicPr>
          <p:cNvPr id="12" name="Image 1" descr="/Users/pop7/Library/CloudStorage/OneDrive-MonsterConnectCo.,Ltd/Lecture/KOSEN69 - software-security/slides/pptx/assets/logo-smal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8" y="4700016"/>
            <a:ext cx="768096" cy="356616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30352" cy="530352"/>
          </a:xfrm>
          <a:prstGeom prst="ellipse">
            <a:avLst/>
          </a:prstGeom>
          <a:solidFill>
            <a:srgbClr val="E35205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521208"/>
            <a:ext cx="256032" cy="2560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329184"/>
            <a:ext cx="7498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Deliverable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1325880"/>
            <a:ext cx="8229600" cy="1517904"/>
          </a:xfrm>
          <a:prstGeom prst="roundRect">
            <a:avLst>
              <a:gd name="adj" fmla="val 4819"/>
            </a:avLst>
          </a:prstGeom>
          <a:solidFill>
            <a:srgbClr val="F1F5F9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31520" y="1435608"/>
            <a:ext cx="768096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Findings: each injection point + payload + impact (CWE-mapped)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fixed code (prepared statements / validation)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 the payload no longer works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Audit the AI / EiPE / Prompt Problem (see worksheet)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57200" y="480060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Security · Week 4</a:t>
            </a:r>
            <a:endParaRPr lang="en-US" sz="900" dirty="0"/>
          </a:p>
        </p:txBody>
      </p:sp>
      <p:pic>
        <p:nvPicPr>
          <p:cNvPr id="8" name="Image 1" descr="/Users/pop7/Library/CloudStorage/OneDrive-MonsterConnectCo.,Ltd/Lecture/KOSEN69 - software-security/slides/pptx/assets/logo-smal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8" y="4700016"/>
            <a:ext cx="768096" cy="356616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30352" cy="530352"/>
          </a:xfrm>
          <a:prstGeom prst="ellipse">
            <a:avLst/>
          </a:prstGeom>
          <a:solidFill>
            <a:srgbClr val="E35205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521208"/>
            <a:ext cx="256032" cy="2560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329184"/>
            <a:ext cx="7498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takeaways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1325880"/>
            <a:ext cx="8229600" cy="1207008"/>
          </a:xfrm>
          <a:prstGeom prst="roundRect">
            <a:avLst>
              <a:gd name="adj" fmla="val 6061"/>
            </a:avLst>
          </a:prstGeom>
          <a:solidFill>
            <a:srgbClr val="F1F5F9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31520" y="1435608"/>
            <a:ext cx="768096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build interpreter strings from untrusted input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Parameterize first; validate as defense-in-depth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Injection = data treated as code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57200" y="480060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Security · Week 4</a:t>
            </a:r>
            <a:endParaRPr lang="en-US" sz="900" dirty="0"/>
          </a:p>
        </p:txBody>
      </p:sp>
      <p:pic>
        <p:nvPicPr>
          <p:cNvPr id="8" name="Image 1" descr="/Users/pop7/Library/CloudStorage/OneDrive-MonsterConnectCo.,Ltd/Lecture/KOSEN69 - software-security/slides/pptx/assets/logo-smal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8" y="4700016"/>
            <a:ext cx="768096" cy="356616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737360"/>
            <a:ext cx="7863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Questions?</a:t>
            </a:r>
            <a:endParaRPr lang="en-US" sz="4600" dirty="0"/>
          </a:p>
        </p:txBody>
      </p:sp>
      <p:sp>
        <p:nvSpPr>
          <p:cNvPr id="3" name="Text 1"/>
          <p:cNvSpPr/>
          <p:nvPr/>
        </p:nvSpPr>
        <p:spPr>
          <a:xfrm>
            <a:off x="658368" y="283464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352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week: XSS &amp; client-side risks</a:t>
            </a:r>
            <a:endParaRPr lang="en-US" sz="1800" dirty="0"/>
          </a:p>
        </p:txBody>
      </p:sp>
      <p:pic>
        <p:nvPicPr>
          <p:cNvPr id="4" name="Image 0" descr="/Users/pop7/Library/CloudStorage/OneDrive-MonsterConnectCo.,Ltd/Lecture/KOSEN69 - software-security/slides/pptx/assets/logo-sma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82128" y="4700016"/>
            <a:ext cx="768096" cy="35661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Software Security · Week 4</dc:title>
  <dc:subject>PptxGenJS Presentation</dc:subject>
  <dc:creator>Nutthakorn Chalaemwongwan</dc:creator>
  <cp:lastModifiedBy>Nutthakorn Chalaemwongwan</cp:lastModifiedBy>
  <cp:revision>1</cp:revision>
  <dcterms:created xsi:type="dcterms:W3CDTF">2026-08-13T18:30:26Z</dcterms:created>
  <dcterms:modified xsi:type="dcterms:W3CDTF">2026-08-13T18:30:26Z</dcterms:modified>
</cp:coreProperties>
</file>