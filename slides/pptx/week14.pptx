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it's 2026 — your students will all ship AI features. Show that a single sentence can make an AI assistant ignore its rules and leak a secret. No exploit code, just text.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Big idea: prompt injection IS injection (W4) — untrusted data interpreted as instructions. Everything they learned applies. Lab = beat Gandalf, then add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Justify the week: this is the most current, fastest-moving area in the course. Note the field changes monthly — what they learn is the THINKING, not a fixed list. OWASP LLM Top 10 + MITRE ATLAS are the references.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10 — highlight the 2025 changes. LLM07 (system-prompt leakage) is new because devs hid secrets in prompts. LLM10 reframed as runaway COST (an agent loop can run up a huge bill). Mention the 2026 edition exists so students who search OWASP themselves aren't confused by different numbers — but the quiz/worksheet key is 2025, don't let them "correct" an answer to 2026 numbering.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concept — say "this is W4 injection in a new interpreter (the LLM)." Direct = the Gandalf game + graded Tasks 1-2, fully hands-on. Indirect is the scary one conceptually, but be upfront that this lab can't demonstrate it live — no retrieval pipeline exists to poison.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 and overlooked: the LLM's OUTPUT is attacker-influenced data. If you drop it into innerHTML you get XSS (W5); into a query, SQLi (W4). The rule from W5 returns: encode for the context, validate before use.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EchoLeak is the headline: zero-click — the victim just receives an email Copilot later reads, and data exfiltrates. No link clicked. Résumé injection makes it relatable (white-on-white text gaming an AI screener).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 and where THEY will build. The moment an LLM can call tools, injection becomes real-world ACTIONS (send money, run code). The 43% MCP stat lands: the ecosystem is young and insecure.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 the pattern home — it's the unifying lesson: an exploit needs privilege + untrusted input + a way out. Break any one leg and the attack fails (that's what the defenses do). The tool-DESCRIPTION attack surprises everyone.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underneath everything today: prompt = system + "\nUser: " + user is ONE string, so the model has no way to tell "instructions I trust" from "text I should just process." Land on the last line before moving to Defenses — it's the direct setup for the three guardrail functions the sim demonstrates next.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 map each defense to a leg of the pattern: least-privilege tools cut PRIVILEGE; isolating RAG content cuts UNTRUSTED INPUT; egress limits + human approval cut the OUTBOUND CHANNEL. The sim runs the actual guardrail/redact/escape code from guarded_chatbot.py against whatever they type, layer by layer — including the uncomfortable case where a phrase slips past the regex but redaction still catches the secret. Be honest that the first three are hands-on today and the fourth bullet is discussion-only. No single guardrail is enough; layer them.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Gandalf (Lakera) is genuinely fun and free — students compete to climb levels. Round 2 (Task 5: replay against guarded_chatbot.py) is graded — the point is that guardrails/redaction/escaping visibly stop what worked before. Don't promise a live tool-poisoning demo; it's a discussion question. Q6 of the quiz asks for the injection that captured the flag + why the guardrail failed.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"the agent read a malicious email and wired money — which leg of privilege+input+channel would you cut, and how?"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we wire the whole course into one CI/CD pipeline — Red vs Blue: sneak a vuln past the gate, or block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14</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Security of AI / LLM-Powered Applications</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Where AI features add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(direct + indirect)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Agentic-AI / MCP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Gandalf Challenge</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LLMs now sit inside real products &amp; agents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New, fast-moving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 MITRE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OWASP LLM Top 10 (2025)</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743200"/>
                <a:gridCol w="2743200"/>
                <a:gridCol w="2743200"/>
              </a:tblGrid>
              <a:tr h="420624">
                <a:tc>
                  <a:txBody>
                    <a:bodyPr/>
                    <a:lstStyle/>
                    <a:p>
                      <a:pPr algn="l" indent="0" marL="0">
                        <a:buNone/>
                      </a:pPr>
                      <a:r>
                        <a:rPr lang="en-US" sz="1250" b="1" dirty="0">
                          <a:solidFill>
                            <a:srgbClr val="0E1726"/>
                          </a:solidFill>
                        </a:rPr>
                        <a:t>LLM01 Prompt Injection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LLM02 Sensitive Info Disclosure</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LLM03 Supply Chain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r>
              <a:tr h="420624">
                <a:tc>
                  <a:txBody>
                    <a:bodyPr/>
                    <a:lstStyle/>
                    <a:p>
                      <a:pPr algn="l" indent="0" marL="0">
                        <a:buNone/>
                      </a:pPr>
                      <a:r>
                        <a:rPr lang="en-US" sz="1200" dirty="0">
                          <a:solidFill>
                            <a:srgbClr val="1F2937"/>
                          </a:solidFill>
                        </a:rPr>
                        <a:t>LLM04 Data/Model Poisoning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LLM05 Improper Output Handling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LLM06 Excessive Agency</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r h="420624">
                <a:tc>
                  <a:txBody>
                    <a:bodyPr/>
                    <a:lstStyle/>
                    <a:p>
                      <a:pPr algn="l" indent="0" marL="0">
                        <a:buNone/>
                      </a:pPr>
                      <a:r>
                        <a:rPr lang="en-US" sz="1200" dirty="0">
                          <a:solidFill>
                            <a:srgbClr val="1F2937"/>
                          </a:solidFill>
                        </a:rPr>
                        <a:t>LLM07 System Prompt Leakage</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LLM08 Vector/Embedding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LLM09 Misinformation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r>
              <a:tr h="420624">
                <a:tc>
                  <a:txBody>
                    <a:bodyPr/>
                    <a:lstStyle/>
                    <a:p>
                      <a:pPr algn="l" indent="0" marL="0">
                        <a:buNone/>
                      </a:pPr>
                      <a:r>
                        <a:rPr lang="en-US" sz="1200" dirty="0">
                          <a:solidFill>
                            <a:srgbClr val="1F2937"/>
                          </a:solidFill>
                        </a:rPr>
                        <a:t>LLM10 Unbounded Consumption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bl>
          </a:graphicData>
        </a:graphic>
      </p:graphicFrame>
      <p:sp>
        <p:nvSpPr>
          <p:cNvPr id="6" name="Shape 2"/>
          <p:cNvSpPr/>
          <p:nvPr/>
        </p:nvSpPr>
        <p:spPr>
          <a:xfrm>
            <a:off x="457200" y="3191256"/>
            <a:ext cx="8229600" cy="1380744"/>
          </a:xfrm>
          <a:prstGeom prst="roundRect">
            <a:avLst>
              <a:gd name="adj" fmla="val 5298"/>
            </a:avLst>
          </a:prstGeom>
          <a:solidFill>
            <a:srgbClr val="E8EDF3"/>
          </a:solidFill>
          <a:ln/>
        </p:spPr>
      </p:sp>
      <p:sp>
        <p:nvSpPr>
          <p:cNvPr id="7" name="Text 3"/>
          <p:cNvSpPr/>
          <p:nvPr/>
        </p:nvSpPr>
        <p:spPr>
          <a:xfrm>
            <a:off x="731520" y="3191256"/>
            <a:ext cx="7680960" cy="1380744"/>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New in 2025: LLM07 System Prompt Leakage · LLM08 promoted (RAG everywhere) · LLM10 replaces "DoS" with runaway cost. Heads up: OWASP shipped a 2026 edition days before this lecture (Excessive Agency jumps to #3, Output Handling drops to #10). This course's lab, worksheet, and quiz key are still on 2025 numbering — use 2025 for anything graded this term.</a:t>
            </a:r>
            <a:endParaRPr lang="en-US" sz="1400" dirty="0"/>
          </a:p>
        </p:txBody>
      </p:sp>
      <p:sp>
        <p:nvSpPr>
          <p:cNvPr id="8"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Prompt injection</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Untrusted text overrides the system's instructions — injection, again.</a:t>
            </a:r>
            <a:endParaRPr lang="en-US" sz="1400" dirty="0"/>
          </a:p>
        </p:txBody>
      </p:sp>
      <p:sp>
        <p:nvSpPr>
          <p:cNvPr id="7" name="Shape 4"/>
          <p:cNvSpPr/>
          <p:nvPr/>
        </p:nvSpPr>
        <p:spPr>
          <a:xfrm>
            <a:off x="457200" y="2313432"/>
            <a:ext cx="8229600" cy="1499616"/>
          </a:xfrm>
          <a:prstGeom prst="roundRect">
            <a:avLst>
              <a:gd name="adj" fmla="val 4878"/>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12801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Direct: user tells the bot to ignore its rules — this week's hands-on lab (Gandalf + Tasks 1-2)</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Indirect: malicious instructions hidden in a fetched doc / web page (RAG) — discussed, not built: the lab's mock LLM has no RAG/retrieval, so this is a thought experiment (worksheet Task 3), not something you'll exploit yourself today</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Improper output handling</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Model output flows unsanitized into HTML/SQL/shell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XSS / injection downstream</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Treat LLM output as untrusted input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Real-world incidents</a:t>
            </a:r>
            <a:endParaRPr lang="en-US" sz="2600" dirty="0"/>
          </a:p>
        </p:txBody>
      </p:sp>
      <p:sp>
        <p:nvSpPr>
          <p:cNvPr id="5" name="Shape 2"/>
          <p:cNvSpPr/>
          <p:nvPr/>
        </p:nvSpPr>
        <p:spPr>
          <a:xfrm>
            <a:off x="457200" y="1325880"/>
            <a:ext cx="8229600" cy="2322576"/>
          </a:xfrm>
          <a:prstGeom prst="roundRect">
            <a:avLst>
              <a:gd name="adj" fmla="val 315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1031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Bing Chat "Sydney" (2023): a typed "ignore previous instructions" leaked the hidden system prompt — direct injection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EchoLeak (2025): zero-click indirect injection in M365 Copilot → data exfil (CVE-2025-32711)</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 tool-abuse: injected web/email content makes a tool-using agent take real actions (send mail, move funds, run code) — it trusts the text as instructions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Résumé injection: hidden white text inflated an AI screening score</a:t>
            </a:r>
            <a:endParaRPr lang="en-US" sz="1400" dirty="0"/>
          </a:p>
        </p:txBody>
      </p:sp>
      <p:sp>
        <p:nvSpPr>
          <p:cNvPr id="7" name="Shape 4"/>
          <p:cNvSpPr/>
          <p:nvPr/>
        </p:nvSpPr>
        <p:spPr>
          <a:xfrm>
            <a:off x="457200" y="3813048"/>
            <a:ext cx="8229600" cy="758952"/>
          </a:xfrm>
          <a:prstGeom prst="roundRect">
            <a:avLst>
              <a:gd name="adj" fmla="val 9639"/>
            </a:avLst>
          </a:prstGeom>
          <a:solidFill>
            <a:srgbClr val="E8EDF3"/>
          </a:solidFill>
          <a:ln/>
        </p:spPr>
      </p:sp>
      <p:sp>
        <p:nvSpPr>
          <p:cNvPr id="8" name="Text 5"/>
          <p:cNvSpPr/>
          <p:nvPr/>
        </p:nvSpPr>
        <p:spPr>
          <a:xfrm>
            <a:off x="731520" y="3813048"/>
            <a:ext cx="7680960" cy="758952"/>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Injection needs no exploit code — just text the model trusts.</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Agentic-AI / MCP risks (2025+)</a:t>
            </a:r>
            <a:endParaRPr lang="en-US" sz="2600" dirty="0"/>
          </a:p>
        </p:txBody>
      </p:sp>
      <p:sp>
        <p:nvSpPr>
          <p:cNvPr id="5" name="Shape 2"/>
          <p:cNvSpPr/>
          <p:nvPr/>
        </p:nvSpPr>
        <p:spPr>
          <a:xfrm>
            <a:off x="457200" y="1325880"/>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Agents call tools (e.g. via MCP) → real-world actions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Tool poisoning, excessive agency, RCE via tools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ATLAS added agent techniques (Oct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Research: 43% of public MCP servers had command-injection flaws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 MCP/agent incidents (2025)</a:t>
            </a:r>
            <a:endParaRPr lang="en-US" sz="2600" dirty="0"/>
          </a:p>
        </p:txBody>
      </p:sp>
      <p:sp>
        <p:nvSpPr>
          <p:cNvPr id="5" name="Shape 2"/>
          <p:cNvSpPr/>
          <p:nvPr/>
        </p:nvSpPr>
        <p:spPr>
          <a:xfrm>
            <a:off x="457200" y="1325880"/>
            <a:ext cx="8229600" cy="1810512"/>
          </a:xfrm>
          <a:prstGeom prst="roundRect">
            <a:avLst>
              <a:gd name="adj" fmla="val 404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5910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Supabase × Cursor: privileged agent read a support ticket with injected SQL → leaked integration tokens (privileged access + untrusted input + exfil channel)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Invariant Labs: a malicious trivia MCP server's tool description hijacked a trusted WhatsApp MCP → exfiltrated chats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MCPoison (CVE-2025-54136): approved-then-swapped MCP config in Cursor → silent RCE on every session</a:t>
            </a:r>
            <a:endParaRPr lang="en-US" sz="1400" dirty="0"/>
          </a:p>
        </p:txBody>
      </p:sp>
      <p:sp>
        <p:nvSpPr>
          <p:cNvPr id="7" name="Shape 4"/>
          <p:cNvSpPr/>
          <p:nvPr/>
        </p:nvSpPr>
        <p:spPr>
          <a:xfrm>
            <a:off x="457200" y="3300984"/>
            <a:ext cx="8229600" cy="822960"/>
          </a:xfrm>
          <a:prstGeom prst="roundRect">
            <a:avLst>
              <a:gd name="adj" fmla="val 8889"/>
            </a:avLst>
          </a:prstGeom>
          <a:solidFill>
            <a:srgbClr val="E8EDF3"/>
          </a:solidFill>
          <a:ln/>
        </p:spPr>
      </p:sp>
      <p:sp>
        <p:nvSpPr>
          <p:cNvPr id="8" name="Text 5"/>
          <p:cNvSpPr/>
          <p:nvPr/>
        </p:nvSpPr>
        <p:spPr>
          <a:xfrm>
            <a:off x="731520" y="3300984"/>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The danger pattern: privilege + untrusted input + an outbound channel.</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No boundary in the context window</a:t>
            </a:r>
            <a:endParaRPr lang="en-US" sz="2600" dirty="0"/>
          </a:p>
        </p:txBody>
      </p:sp>
      <p:sp>
        <p:nvSpPr>
          <p:cNvPr id="5" name="Text 2"/>
          <p:cNvSpPr/>
          <p:nvPr/>
        </p:nvSpPr>
        <p:spPr>
          <a:xfrm>
            <a:off x="548640" y="1325880"/>
            <a:ext cx="8046720" cy="219456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The model itself cannot fix this: there's no tag inside the context window that says "this part is data." The guards have to live outside the model — input_guardrail, redact_secret and escape — which is exactly guarded_chatbot.py.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Defenses</a:t>
            </a:r>
            <a:endParaRPr lang="en-US" sz="2600" dirty="0"/>
          </a:p>
        </p:txBody>
      </p:sp>
      <p:sp>
        <p:nvSpPr>
          <p:cNvPr id="5" name="Shape 2"/>
          <p:cNvSpPr/>
          <p:nvPr/>
        </p:nvSpPr>
        <p:spPr>
          <a:xfrm>
            <a:off x="457200" y="1325880"/>
            <a:ext cx="8229600" cy="2523744"/>
          </a:xfrm>
          <a:prstGeom prst="roundRect">
            <a:avLst>
              <a:gd name="adj" fmla="val 289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30428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Input/output guardrails + content filtering — you'll build this: guarded_chatbot.py's regex denylist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Strict output schemas/validation; encode before downstream use — you'll build this: HTML-escaping the model's output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Redact secrets before they can reach a response — you'll build this: redact_secret()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Least-privilege tool access, human-in-the-loop, rate limits, isolating untrusted RAG content — concepts only this week (worksheet Q5); no agent/tool-calling code exists in this lab to demo</a:t>
            </a:r>
            <a:endParaRPr lang="en-US" sz="1400" dirty="0"/>
          </a:p>
        </p:txBody>
      </p:sp>
      <p:sp>
        <p:nvSpPr>
          <p:cNvPr id="7" name="Text 4"/>
          <p:cNvSpPr/>
          <p:nvPr/>
        </p:nvSpPr>
        <p:spPr>
          <a:xfrm>
            <a:off x="548640" y="4014216"/>
            <a:ext cx="8046720" cy="5486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it live: /sim/prompt-guard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Gandalf Challenge</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Beat Gandalf levels via direct prompt injection → exfiltrate the secret (real external service, leaderboard by level)</a:t>
            </a:r>
            <a:endParaRPr lang="en-US" sz="1350" dirty="0"/>
          </a:p>
        </p:txBody>
      </p:sp>
      <p:sp>
        <p:nvSpPr>
          <p:cNvPr id="8" name="Shape 5"/>
          <p:cNvSpPr/>
          <p:nvPr/>
        </p:nvSpPr>
        <p:spPr>
          <a:xfrm>
            <a:off x="502920" y="2057400"/>
            <a:ext cx="384048" cy="384048"/>
          </a:xfrm>
          <a:prstGeom prst="ellipse">
            <a:avLst/>
          </a:prstGeom>
          <a:solidFill>
            <a:srgbClr val="E35205"/>
          </a:solidFill>
          <a:ln/>
        </p:spPr>
      </p:sp>
      <p:sp>
        <p:nvSpPr>
          <p:cNvPr id="9" name="Text 6"/>
          <p:cNvSpPr/>
          <p:nvPr/>
        </p:nvSpPr>
        <p:spPr>
          <a:xfrm>
            <a:off x="502920" y="205740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05740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(graded): replay your winning injection + the reflected-XSS payload against the guarded bot — does it still land?</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Written only: tool poisoning / excessive agency on an MCP-style agent (worksheet Q5) — no agent exists in this lab to demo live</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5"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14 — labs/week14-ai-llm-security/worksheet.md (Part 3) · kickoff: docker compose up → :8082 (insecure) / :8083 (guarded)</a:t>
            </a:r>
            <a:endParaRPr lang="en-US" sz="1400" dirty="0"/>
          </a:p>
        </p:txBody>
      </p:sp>
      <p:sp>
        <p:nvSpPr>
          <p:cNvPr id="7" name="Shape 4"/>
          <p:cNvSpPr/>
          <p:nvPr/>
        </p:nvSpPr>
        <p:spPr>
          <a:xfrm>
            <a:off x="457200" y="2313432"/>
            <a:ext cx="8229600" cy="2231136"/>
          </a:xfrm>
          <a:prstGeom prst="roundRect">
            <a:avLst>
              <a:gd name="adj" fmla="val 3279"/>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20116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 log: prompt-injection disclosure (Task 1) + reflected-XSS from unescaped output (Task 2)</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indirect-injection thought experiment (Task 3)</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Gandalf leaderboard result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re-test results against the guarded bot (Task 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least-privilege agent/MCP tool design (Part 2 Q5 — reflection, not a build)</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 (cont.)</a:t>
            </a:r>
            <a:endParaRPr lang="en-US" sz="2600" dirty="0"/>
          </a:p>
        </p:txBody>
      </p:sp>
      <p:sp>
        <p:nvSpPr>
          <p:cNvPr id="5" name="Shape 2"/>
          <p:cNvSpPr/>
          <p:nvPr/>
        </p:nvSpPr>
        <p:spPr>
          <a:xfrm>
            <a:off x="457200" y="1325880"/>
            <a:ext cx="8229600" cy="585216"/>
          </a:xfrm>
          <a:prstGeom prst="roundRect">
            <a:avLst>
              <a:gd name="adj" fmla="val 125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365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 injection; LLM output = untrusted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Constrain agency: least-privilege tools, human approval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field moves monthly — track OWASP LLM +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DevSecOps — putting it together</a:t>
            </a:r>
            <a:endParaRPr lang="en-US" sz="1800" dirty="0"/>
          </a:p>
        </p:txBody>
      </p:sp>
      <p:pic>
        <p:nvPicPr>
          <p:cNvPr id="4"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14</dc:title>
  <dc:subject>PptxGenJS Presentation</dc:subject>
  <dc:creator>Nutthakorn Chalaemwongwan</dc:creator>
  <cp:lastModifiedBy>Nutthakorn Chalaemwongwan</cp:lastModifiedBy>
  <cp:revision>1</cp:revision>
  <dcterms:created xsi:type="dcterms:W3CDTF">2026-08-13T18:38:55Z</dcterms:created>
  <dcterms:modified xsi:type="dcterms:W3CDTF">2026-08-13T18:38:55Z</dcterms:modified>
</cp:coreProperties>
</file>