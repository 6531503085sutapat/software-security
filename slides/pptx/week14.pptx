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it's 2026 — your students will all ship AI features. Show that a single sentence can make an AI assistant ignore its rules and leak a secret. No exploit code, just text.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Roadmap, 1 min. Big idea: prompt injection IS injection (W4) — untrusted data interpreted as instructions. Everything they learned applies. Lab = beat Gandalf, then add guardrails.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Justify the week: this is the most current, fastest-moving area in the course. Note the field changes monthly — what they learn is the THINKING, not a fixed list. OWASP LLM Top 10 + MITRE ATLAS are the references.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read all 10 — highlight the 2025 changes. LLM07 (system-prompt leakage) is new because devs hid secrets in prompts. LLM10 reframed as runaway COST (an agent loop can run up a huge bill). Mention the 2026 edition exists so students who search OWASP themselves aren't confused by different numbers — but the quiz/worksheet key is 2025, don't let them "correct" an answer to 2026 numbering.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concept — say "this is W4 injection in a new interpreter (the LLM)." Direct = the Gandalf game + graded Tasks 1-2, fully hands-on. Indirect is the scary one conceptually, but be upfront that this lab can't demonstrate it live — no retrieval pipeline exists to poison. ~6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Crucial and overlooked: the LLM's OUTPUT is attacker-influenced data. If you drop it into innerHTML you get XSS (W5); into a query, SQLi (W4). The rule from W5 returns: encode for the context, validate before use.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EchoLeak is the headline: zero-click — the victim just receives an email Copilot later reads, and data exfiltrates. No link clicked. Résumé injection makes it relatable (white-on-white text gaming an AI screener).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frontier — and where THEY will build. The moment an LLM can call tools, injection becomes real-world ACTIONS (send money, run code). The 43% MCP stat lands: the ecosystem is young and insecure.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Drive the pattern home — it's the unifying lesson: an exploit needs privilege + untrusted input + a way out. Break any one leg and the attack fails (that's what the defenses do). The tool-DESCRIPTION attack surprises everyone.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 — map each defense to a leg of the pattern: least-privilege tools cut PRIVILEGE; isolating RAG content cuts UNTRUSTED INPUT; egress limits + human approval cut the OUTBOUND CHANNEL. Be honest that the first three are hands-on today and the fourth bullet is discussion-only — don't let the deck imply an agent demo that doesn't exist. No single guardrail is enough; layer them.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Gandalf (Lakera) is genuinely fun and free — students compete to climb levels. Round 2 (Task 5: replay against guarded_chatbot.py) is graded — the point is that guardrails/redaction/escaping visibly stop what worked before. Don't promise a live tool-poisoning demo; it's a discussion question. Q6 of the quiz asks for the injection that captured the flag + why the guardrail failed.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graded pieces, not three — the least-privilege tool design is a written reflection, not a build, so don't let students think they're missing a coding artifact for it. Especially fitting this week: the Audit-the-AI task critiques an AI's own (insecure) answer. Ports are 8082/8083 — the old pair's 6000 half was genuinely unreachable (Chrome/Firefox both block port 6000, the X11 port, per their restricted-port lists); 6001 was never actually blocked anywhere, so if asked, the honest reason for the move is "6000 was dead and we replaced the whole pair," not "the browsers blocked both."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graded pieces, not three — the least-privilege tool design is a written reflection, not a build, so don't let students think they're missing a coding artifact for it. Especially fitting this week: the Audit-the-AI task critiques an AI's own (insecure) answer. Ports are 8082/8083 — the old pair's 6000 half was genuinely unreachable (Chrome/Firefox both block port 6000, the X11 port, per their restricted-port lists); 6001 was never actually blocked anywhere, so if asked, the honest reason for the move is "6000 was dead and we replaced the whole pair," not "the browsers blocked both."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Recap. Cold-call: "the agent read a malicious email and wired money — which leg of privilege+input+channel would you cut, and how?"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Cliffhanger: "Next week we wire the whole course into one CI/CD pipeline — Red vs Blue: sneak a vuln past the gate, or block 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14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of AI / LLM-Powered Applications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Nutthakorn Chalaemwongwan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features add attack surface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(2025)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(direct + indirect)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Agentic-AI / MCP risks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Game: Gandalf Challenge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14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whole week on AI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now sit inside real products &amp; agents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New, fast-moving attack surface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+ MITRE ATLAS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14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LLM Top 10 (2025)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LLM01 Prompt Injection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LLM02 Sensitive Info Disclosure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LLM03 Supply Chain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LLM04 Data/Model Poisoning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LLM05 Improper Output Handling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LLM06 Excessive Agency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LLM07 System Prompt Leakage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LLM08 Vector/Embedding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LLM09 Misinformation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LLM10 Unbounded Consumption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191256"/>
            <a:ext cx="8229600" cy="1380744"/>
          </a:xfrm>
          <a:prstGeom prst="roundRect">
            <a:avLst>
              <a:gd name="adj" fmla="val 5298"/>
            </a:avLst>
          </a:prstGeom>
          <a:solidFill>
            <a:srgbClr val="E8EDF3"/>
          </a:solidFill>
          <a:ln/>
        </p:spPr>
      </p:sp>
      <p:sp>
        <p:nvSpPr>
          <p:cNvPr id="7" name="Text 3"/>
          <p:cNvSpPr/>
          <p:nvPr/>
        </p:nvSpPr>
        <p:spPr>
          <a:xfrm>
            <a:off x="731520" y="3191256"/>
            <a:ext cx="768096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 2025: LLM07 System Prompt Leakage · LLM08 promoted (RAG everywhere) · LLM10 replaces "DoS" with runaway cost. Heads up: OWASP shipped a 2026 edition days before this lecture (Excessive Agency jumps to #3, Output Handling drops to #10). This course's lab, worksheet, and quiz key are still on 2025 numbering — use 2025 for anything graded this term.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14</a:t>
            </a:r>
            <a:endParaRPr lang="en-US" sz="900" dirty="0"/>
          </a:p>
        </p:txBody>
      </p:sp>
      <p:pic>
        <p:nvPicPr>
          <p:cNvPr id="9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text overrides the system's instructions — injection, again.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313432"/>
            <a:ext cx="8229600" cy="1499616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42316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Direct: user tells the bot to ignore its rules — this week's hands-on lab (Gandalf + Tasks 1-2)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Indirect: malicious instructions hidden in a fetched doc / web page (RAG) — discussed, not built: the lab's mock LLM has no RAG/retrieval, so this is a thought experiment (worksheet Task 3), not something you'll exploit yourself today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14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Improper output handling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 flows unsanitized into HTML/SQL/shell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XSS / injection downstream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LLM output as untrusted input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14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incidents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2322576"/>
          </a:xfrm>
          <a:prstGeom prst="roundRect">
            <a:avLst>
              <a:gd name="adj" fmla="val 315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Bing Chat "Sydney" (2023): a typed "ignore previous instructions" leaked the hidden system prompt — direct injection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EchoLeak (2025): zero-click indirect injection in M365 Copilot → data exfil (CVE-2025-32711)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tool-abuse: injected web/email content makes a tool-using agent take real actions (send mail, move funds, run code) — it trusts the text as instructions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injection: hidden white text inflated an AI screening score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813048"/>
            <a:ext cx="8229600" cy="758952"/>
          </a:xfrm>
          <a:prstGeom prst="roundRect">
            <a:avLst>
              <a:gd name="adj" fmla="val 9639"/>
            </a:avLst>
          </a:prstGeom>
          <a:solidFill>
            <a:srgbClr val="E8EDF3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813048"/>
            <a:ext cx="7680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needs no exploit code — just text the model trusts.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14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Agentic-AI / MCP risks (2025+)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call tools (e.g. via MCP) → real-world actions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poisoning, excessive agency, RCE via tools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ATLAS added agent techniques (Oct 2025)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43% of public MCP servers had command-injection flaws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14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MCP/agent incidents (2025)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10512"/>
          </a:xfrm>
          <a:prstGeom prst="roundRect">
            <a:avLst>
              <a:gd name="adj" fmla="val 404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× Cursor: privileged agent read a support ticket with injected SQL → leaked integration tokens (privileged access + untrusted input + exfil channel)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Labs: a malicious trivia MCP server's tool description hijacked a trusted WhatsApp MCP → exfiltrated chats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MCPoison (CVE-2025-54136): approved-then-swapped MCP config in Cursor → silent RCE on every session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300984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300984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danger pattern: privilege + untrusted input + an outbound channel.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14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2523744"/>
          </a:xfrm>
          <a:prstGeom prst="roundRect">
            <a:avLst>
              <a:gd name="adj" fmla="val 289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 guardrails + content filtering — you'll build this: guarded_chatbot.py's regex denylist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output schemas/validation; encode before downstream use — you'll build this: HTML-escaping the model's output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 secrets before they can reach a response — you'll build this: redact_secret()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tool access, human-in-the-loop, rate limits, isolating untrusted RAG content — concepts only this week (worksheet Q5); no agent/tool-calling code exists in this lab to demo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14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🧙 Game — Gandalf Challenge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32588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1560" y="132588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Gandalf levels via direct prompt injection → exfiltrate the secret (real external service, leaderboard by level)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205740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(graded): replay your winning injection + the reflected-XSS payload against the guarded bot — does it still land?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278892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51560" y="278892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only: tool poisoning / excessive agency on an MCP-style agent (worksheet Q5) — no agent exists in this lab to demo live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14</a:t>
            </a:r>
            <a:endParaRPr lang="en-US" sz="900" dirty="0"/>
          </a:p>
        </p:txBody>
      </p:sp>
      <p:pic>
        <p:nvPicPr>
          <p:cNvPr id="15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Worksheet 14 — labs/week14-ai-llm-security/worksheet.md (Part 3) · kickoff: docker compose up → :8082 (insecure) / :8083 (guarded)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313432"/>
            <a:ext cx="8229600" cy="2231136"/>
          </a:xfrm>
          <a:prstGeom prst="roundRect">
            <a:avLst>
              <a:gd name="adj" fmla="val 327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42316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log: prompt-injection disclosure (Task 1) + reflected-XSS from unescaped output (Task 2)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Written: indirect-injection thought experiment (Task 3)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Gandalf leaderboard result (Task 4)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 + re-test results against the guarded bot (Task 5)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Written: least-privilege agent/MCP tool design (Part 2 Q5 — reflection, not a build)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14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the AI / EiPE / Prompt Problem (see worksheet)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14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= injection; LLM output = untrusted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 agency: least-privilege tools, human approval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moves monthly — track OWASP LLM + ATLAS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14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DevSecOps — putting it together</a:t>
            </a:r>
            <a:endParaRPr lang="en-US" sz="1800" dirty="0"/>
          </a:p>
        </p:txBody>
      </p:sp>
      <p:pic>
        <p:nvPicPr>
          <p:cNvPr id="4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14</dc:title>
  <dc:subject>PptxGenJS Presentation</dc:subject>
  <dc:creator>Nutthakorn Chalaemwongwan</dc:creator>
  <cp:lastModifiedBy>Nutthakorn Chalaemwongwan</cp:lastModifiedBy>
  <cp:revision>1</cp:revision>
  <dcterms:created xsi:type="dcterms:W3CDTF">2026-08-13T10:31:32Z</dcterms:created>
  <dcterms:modified xsi:type="dcterms:W3CDTF">2026-08-13T10:31:32Z</dcterms:modified>
</cp:coreProperties>
</file>