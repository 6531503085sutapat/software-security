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Studio day, not a lecture. Frame: this is the dress rehearsal for the graded Week 19. Goal = every team leaves knowing exactly what to fix. ~2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Time-box: WIP demos + peer review first half, practice CTF second half (300-min block). Keep demos strictly timed so everyone presents.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bar before demos so teams self-assess. This = the Week 19 graded rubric (project/README.md). Emphasize the narrative: attack → root cause → fix is what scores. ~4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self-assessment tool for this session: which categories does YOUR capstone actually demonstrate, and which week's lab is the closest precedent to borrow from? The three "deep coverage" rows (A01/A03/A05) had the most lab hours — that's where a team's evidence will be strongest, and a useful nudge for teams still choosing what to build around. ~4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on a timer (15 min/team). "Ungraded" lowers stakes so they expose weak spots now. Prefer live — it's the better rehearsal — but don't hard-block a team whose sandbox breaks; the worksheet itself allows a recorded fallback for the attack segment, so don't contradict it on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each team this as a checklist to score the team presenting (use scrimmage.md). Peer feedback in writing → the presenting team gets a punch-list. This is the main value of the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scrimmage (scrimmage.md / item-bank CTF pool) in the exact W19 team format so the final has no surprises — don't drop "cloud" from the category list, it's a real category on the board (misconfig hunt, wk13). The Boss challenge is the one place this CTF ties back to the capstone theme — call it out, it's easy to miss. Leaderboard on CTFd. ~2.5 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Send them off with a concrete punch-list (the peer feedback). Remind: W19 demo is graded + the final CTF tournament.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Bridge to W17 review. Confirm project repos are runnable before the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Users/pop7/Library/CloudStorage/OneDrive-MonsterConnectCo.,Ltd/Lecture/KOSEN69 - software-security/slides/pptx/assets/logo-small.png">    </p:cNvPr>
          <p:cNvPicPr>
            <a:picLocks noChangeAspect="1"/>
          </p:cNvPicPr>
          <p:nvPr/>
        </p:nvPicPr>
        <p:blipFill>
          <a:blip r:embed="rId1"/>
          <a:stretch>
            <a:fillRect/>
          </a:stretch>
        </p:blipFill>
        <p:spPr>
          <a:xfrm>
            <a:off x="640080" y="502920"/>
            <a:ext cx="1691640" cy="676656"/>
          </a:xfrm>
          <a:prstGeom prst="rect">
            <a:avLst/>
          </a:prstGeom>
        </p:spPr>
      </p:pic>
      <p:sp>
        <p:nvSpPr>
          <p:cNvPr id="3" name="Text 0"/>
          <p:cNvSpPr/>
          <p:nvPr/>
        </p:nvSpPr>
        <p:spPr>
          <a:xfrm>
            <a:off x="640080" y="1783080"/>
            <a:ext cx="7772400" cy="457200"/>
          </a:xfrm>
          <a:prstGeom prst="rect">
            <a:avLst/>
          </a:prstGeom>
          <a:noFill/>
          <a:ln/>
        </p:spPr>
        <p:txBody>
          <a:bodyPr wrap="square" lIns="0" tIns="0" rIns="0" bIns="0" rtlCol="0" anchor="ctr"/>
          <a:lstStyle/>
          <a:p>
            <a:pPr indent="0" marL="0">
              <a:buNone/>
            </a:pPr>
            <a:r>
              <a:rPr lang="en-US" sz="1800" b="1" spc="300" kern="0" dirty="0">
                <a:solidFill>
                  <a:srgbClr val="E35205"/>
                </a:solidFill>
                <a:latin typeface="Arial" pitchFamily="34" charset="0"/>
                <a:ea typeface="Arial" pitchFamily="34" charset="-122"/>
                <a:cs typeface="Arial" pitchFamily="34" charset="-120"/>
              </a:rPr>
              <a:t>WEEK 16</a:t>
            </a:r>
            <a:endParaRPr lang="en-US" sz="1800" dirty="0"/>
          </a:p>
        </p:txBody>
      </p:sp>
      <p:sp>
        <p:nvSpPr>
          <p:cNvPr id="4" name="Text 1"/>
          <p:cNvSpPr/>
          <p:nvPr/>
        </p:nvSpPr>
        <p:spPr>
          <a:xfrm>
            <a:off x="603504" y="2240280"/>
            <a:ext cx="7955280" cy="1371600"/>
          </a:xfrm>
          <a:prstGeom prst="rect">
            <a:avLst/>
          </a:prstGeom>
          <a:noFill/>
          <a:ln/>
        </p:spPr>
        <p:txBody>
          <a:bodyPr wrap="square" lIns="0" tIns="0" rIns="0" bIns="0" rtlCol="0" anchor="ctr"/>
          <a:lstStyle/>
          <a:p>
            <a:pPr indent="0" marL="0">
              <a:lnSpc>
                <a:spcPct val="98000"/>
              </a:lnSpc>
              <a:buNone/>
            </a:pPr>
            <a:r>
              <a:rPr lang="en-US" sz="4000" b="1" dirty="0">
                <a:solidFill>
                  <a:srgbClr val="1F2937"/>
                </a:solidFill>
                <a:latin typeface="Arial" pitchFamily="34" charset="0"/>
                <a:ea typeface="Arial" pitchFamily="34" charset="-122"/>
                <a:cs typeface="Arial" pitchFamily="34" charset="-120"/>
              </a:rPr>
              <a:t>Capstone Studio &amp; CTF Warm-up</a:t>
            </a:r>
            <a:endParaRPr lang="en-US" sz="4000" dirty="0"/>
          </a:p>
        </p:txBody>
      </p:sp>
      <p:sp>
        <p:nvSpPr>
          <p:cNvPr id="5" name="Text 2"/>
          <p:cNvSpPr/>
          <p:nvPr/>
        </p:nvSpPr>
        <p:spPr>
          <a:xfrm>
            <a:off x="640080" y="3840480"/>
            <a:ext cx="7772400" cy="365760"/>
          </a:xfrm>
          <a:prstGeom prst="rect">
            <a:avLst/>
          </a:prstGeom>
          <a:noFill/>
          <a:ln/>
        </p:spPr>
        <p:txBody>
          <a:bodyPr wrap="square" lIns="0" tIns="0" rIns="0" bIns="0" rtlCol="0" anchor="ctr"/>
          <a:lstStyle/>
          <a:p>
            <a:pPr indent="0" marL="0">
              <a:buNone/>
            </a:pPr>
            <a:r>
              <a:rPr lang="en-US" sz="1400" dirty="0">
                <a:solidFill>
                  <a:srgbClr val="64748B"/>
                </a:solidFill>
                <a:latin typeface="Calibri" pitchFamily="34" charset="0"/>
                <a:ea typeface="Calibri" pitchFamily="34" charset="-122"/>
                <a:cs typeface="Calibri" pitchFamily="34" charset="-120"/>
              </a:rPr>
              <a:t>Software Security · Nutthakorn Chalaemwongwan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Today</a:t>
            </a:r>
            <a:endParaRPr lang="en-US" sz="2600" dirty="0"/>
          </a:p>
        </p:txBody>
      </p:sp>
      <p:sp>
        <p:nvSpPr>
          <p:cNvPr id="5" name="Shape 2"/>
          <p:cNvSpPr/>
          <p:nvPr/>
        </p:nvSpPr>
        <p:spPr>
          <a:xfrm>
            <a:off x="457200" y="1325880"/>
            <a:ext cx="8229600" cy="1207008"/>
          </a:xfrm>
          <a:prstGeom prst="roundRect">
            <a:avLst>
              <a:gd name="adj" fmla="val 6061"/>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987552"/>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Work-in-progress capstone demos</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Cross-team peer review</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 Practice CTF tournament (previews Week 19)</a:t>
            </a:r>
            <a:endParaRPr lang="en-US" sz="1400" dirty="0"/>
          </a:p>
        </p:txBody>
      </p:sp>
      <p:sp>
        <p:nvSpPr>
          <p:cNvPr id="7" name="Text 4"/>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16</a:t>
            </a:r>
            <a:endParaRPr lang="en-US" sz="900" dirty="0"/>
          </a:p>
        </p:txBody>
      </p:sp>
      <p:pic>
        <p:nvPicPr>
          <p:cNvPr id="8" name="Image 1" descr="/Users/pop7/Library/CloudStorage/OneDrive-MonsterConnectCo.,Ltd/Lecture/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Capstone — what good looks like</a:t>
            </a:r>
            <a:endParaRPr lang="en-US" sz="2600" dirty="0"/>
          </a:p>
        </p:txBody>
      </p:sp>
      <p:sp>
        <p:nvSpPr>
          <p:cNvPr id="5" name="Shape 2"/>
          <p:cNvSpPr/>
          <p:nvPr/>
        </p:nvSpPr>
        <p:spPr>
          <a:xfrm>
            <a:off x="457200" y="1325880"/>
            <a:ext cx="8229600" cy="1517904"/>
          </a:xfrm>
          <a:prstGeom prst="roundRect">
            <a:avLst>
              <a:gd name="adj" fmla="val 4819"/>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1298448"/>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Clear threat model → real vulnerabilities → working fixes</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SBOM + signed artifact</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Security CI pipeline that gates the build</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Story: attack → root cause → fix</a:t>
            </a:r>
            <a:endParaRPr lang="en-US" sz="1400" dirty="0"/>
          </a:p>
        </p:txBody>
      </p:sp>
      <p:sp>
        <p:nvSpPr>
          <p:cNvPr id="7" name="Text 4"/>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16</a:t>
            </a:r>
            <a:endParaRPr lang="en-US" sz="900" dirty="0"/>
          </a:p>
        </p:txBody>
      </p:sp>
      <p:pic>
        <p:nvPicPr>
          <p:cNvPr id="8" name="Image 1" descr="/Users/pop7/Library/CloudStorage/OneDrive-MonsterConnectCo.,Ltd/Lecture/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The whole term, one lookup table</a:t>
            </a:r>
            <a:endParaRPr lang="en-US" sz="2600" dirty="0"/>
          </a:p>
        </p:txBody>
      </p:sp>
      <p:sp>
        <p:nvSpPr>
          <p:cNvPr id="5" name="Text 2"/>
          <p:cNvSpPr/>
          <p:nvPr/>
        </p:nvSpPr>
        <p:spPr>
          <a:xfrm>
            <a:off x="548640" y="1325880"/>
            <a:ext cx="8046720" cy="2743200"/>
          </a:xfrm>
          <a:prstGeom prst="rect">
            <a:avLst/>
          </a:prstGeom>
          <a:noFill/>
          <a:ln/>
        </p:spPr>
        <p:txBody>
          <a:bodyPr wrap="square" lIns="0" tIns="0" rIns="0" bIns="0" rtlCol="0" anchor="t">
            <a:normAutofit/>
          </a:bodyPr>
          <a:lstStyle/>
          <a:p>
            <a:pPr indent="0" marL="0">
              <a:buNone/>
            </a:pPr>
            <a:r>
              <a:rPr lang="en-US" sz="1400" dirty="0">
                <a:solidFill>
                  <a:srgbClr val="1F2937"/>
                </a:solidFill>
                <a:latin typeface="Calibri" pitchFamily="34" charset="0"/>
                <a:ea typeface="Calibri" pitchFamily="34" charset="-122"/>
                <a:cs typeface="Calibri" pitchFamily="34" charset="-120"/>
              </a:rPr>
              <a:t>See diagram: The OWASP Top 10 (2025), each row paired with the week that taught it, the lab file that demonstrated it, and a representative CWE — A01 Broken Access Control (weeks 6, 10, deep coverage), A02 Security Misconfiguration (weeks 13, 2), A03 Software Supply Chain Failures (weeks 12, 15, deep coverage), A04 Cryptographic Failures (week 3), A05 Injection (weeks 4, 5, 2, deep coverage), A06 Insecure Design (week 1), A07 Authentication Failures (week 6), A08 Integrity Failures (week 12), A09 Logging Failures (week 15), A10 Mishandling Exceptional Conditions (week 15) — plus three categories beyond the web Top 10 still graded in the capstone CTF: API1 BOLA (week 10), memory-safety exploitation (week 11), and prompt injection (week 14). (web only)</a:t>
            </a:r>
            <a:endParaRPr lang="en-US" sz="1400" dirty="0"/>
          </a:p>
        </p:txBody>
      </p:sp>
      <p:sp>
        <p:nvSpPr>
          <p:cNvPr id="6" name="Text 3"/>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16</a:t>
            </a:r>
            <a:endParaRPr lang="en-US" sz="900" dirty="0"/>
          </a:p>
        </p:txBody>
      </p:sp>
      <p:pic>
        <p:nvPicPr>
          <p:cNvPr id="7" name="Image 1" descr="/Users/pop7/Library/CloudStorage/OneDrive-MonsterConnectCo.,Ltd/Lecture/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Demo format (today, ungraded)</a:t>
            </a:r>
            <a:endParaRPr lang="en-US" sz="2600" dirty="0"/>
          </a:p>
        </p:txBody>
      </p:sp>
      <p:sp>
        <p:nvSpPr>
          <p:cNvPr id="5" name="Shape 2"/>
          <p:cNvSpPr/>
          <p:nvPr/>
        </p:nvSpPr>
        <p:spPr>
          <a:xfrm>
            <a:off x="457200" y="1325880"/>
            <a:ext cx="8229600" cy="1408176"/>
          </a:xfrm>
          <a:prstGeom prst="roundRect">
            <a:avLst>
              <a:gd name="adj" fmla="val 5195"/>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1188720"/>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10-min demo + 5-min Q&amp;A</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Show one full attack→fix walkthrough — live unless your environment breaks, then a recorded fallback is fine (this is a rehearsal, not the Week 19 format)</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Get peer feedback before the graded Week 19</a:t>
            </a:r>
            <a:endParaRPr lang="en-US" sz="1400" dirty="0"/>
          </a:p>
        </p:txBody>
      </p:sp>
      <p:sp>
        <p:nvSpPr>
          <p:cNvPr id="7" name="Text 4"/>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16</a:t>
            </a:r>
            <a:endParaRPr lang="en-US" sz="900" dirty="0"/>
          </a:p>
        </p:txBody>
      </p:sp>
      <p:pic>
        <p:nvPicPr>
          <p:cNvPr id="8" name="Image 1" descr="/Users/pop7/Library/CloudStorage/OneDrive-MonsterConnectCo.,Ltd/Lecture/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Peer review rubric</a:t>
            </a:r>
            <a:endParaRPr lang="en-US" sz="2600" dirty="0"/>
          </a:p>
        </p:txBody>
      </p:sp>
      <p:sp>
        <p:nvSpPr>
          <p:cNvPr id="5" name="Shape 2"/>
          <p:cNvSpPr/>
          <p:nvPr/>
        </p:nvSpPr>
        <p:spPr>
          <a:xfrm>
            <a:off x="457200" y="1325880"/>
            <a:ext cx="8229600" cy="1517904"/>
          </a:xfrm>
          <a:prstGeom prst="roundRect">
            <a:avLst>
              <a:gd name="adj" fmla="val 4819"/>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1298448"/>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Is the threat model complete?</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Are findings CWE/OWASP-mapped &amp; reproduced?</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Do the fixes actually close the bug?</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Is the pipeline real (fails on findings)?</a:t>
            </a:r>
            <a:endParaRPr lang="en-US" sz="1400" dirty="0"/>
          </a:p>
        </p:txBody>
      </p:sp>
      <p:sp>
        <p:nvSpPr>
          <p:cNvPr id="7" name="Text 4"/>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16</a:t>
            </a:r>
            <a:endParaRPr lang="en-US" sz="900" dirty="0"/>
          </a:p>
        </p:txBody>
      </p:sp>
      <p:pic>
        <p:nvPicPr>
          <p:cNvPr id="8" name="Image 1" descr="/Users/pop7/Library/CloudStorage/OneDrive-MonsterConnectCo.,Ltd/Lecture/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 Practice CTF</a:t>
            </a:r>
            <a:endParaRPr lang="en-US" sz="2600" dirty="0"/>
          </a:p>
        </p:txBody>
      </p:sp>
      <p:sp>
        <p:nvSpPr>
          <p:cNvPr id="5" name="Shape 2"/>
          <p:cNvSpPr/>
          <p:nvPr/>
        </p:nvSpPr>
        <p:spPr>
          <a:xfrm>
            <a:off x="457200" y="1325880"/>
            <a:ext cx="8229600" cy="1609344"/>
          </a:xfrm>
          <a:prstGeom prst="roundRect">
            <a:avLst>
              <a:gd name="adj" fmla="val 4545"/>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1389888"/>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Mixed web / API / binary / supply-chain / cloud / LLM — 9 challenges, 6 categories</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Boss challenge: chains two bugs on NoteVault itself — your term project's own starter app</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Cross-team scrimmage, dry run for the Week 19 tournament</a:t>
            </a:r>
            <a:endParaRPr lang="en-US" sz="1400" dirty="0"/>
          </a:p>
        </p:txBody>
      </p:sp>
      <p:sp>
        <p:nvSpPr>
          <p:cNvPr id="7" name="Text 4"/>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16</a:t>
            </a:r>
            <a:endParaRPr lang="en-US" sz="900" dirty="0"/>
          </a:p>
        </p:txBody>
      </p:sp>
      <p:pic>
        <p:nvPicPr>
          <p:cNvPr id="8" name="Image 1" descr="/Users/pop7/Library/CloudStorage/OneDrive-MonsterConnectCo.,Ltd/Lecture/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84048"/>
            <a:ext cx="530352" cy="530352"/>
          </a:xfrm>
          <a:prstGeom prst="ellipse">
            <a:avLst/>
          </a:prstGeom>
          <a:solidFill>
            <a:srgbClr val="E35205"/>
          </a:solidFill>
          <a:ln/>
          <a:effectLst>
            <a:outerShdw sx="100000" sy="100000" kx="0" ky="0" algn="bl" rotWithShape="0" blurRad="76200" dist="25400" dir="5400000">
              <a:srgbClr val="000000">
                <a:alpha val="12000"/>
              </a:srgbClr>
            </a:outerShdw>
          </a:effectLst>
        </p:spPr>
      </p:sp>
      <p:pic>
        <p:nvPicPr>
          <p:cNvPr id="3" name="Image 0" descr="preencoded.png">    </p:cNvPr>
          <p:cNvPicPr>
            <a:picLocks noChangeAspect="1"/>
          </p:cNvPicPr>
          <p:nvPr/>
        </p:nvPicPr>
        <p:blipFill>
          <a:blip r:embed="rId1"/>
          <a:stretch>
            <a:fillRect/>
          </a:stretch>
        </p:blipFill>
        <p:spPr>
          <a:xfrm>
            <a:off x="594360" y="521208"/>
            <a:ext cx="256032" cy="256032"/>
          </a:xfrm>
          <a:prstGeom prst="rect">
            <a:avLst/>
          </a:prstGeom>
        </p:spPr>
      </p:pic>
      <p:sp>
        <p:nvSpPr>
          <p:cNvPr id="4" name="Text 1"/>
          <p:cNvSpPr/>
          <p:nvPr/>
        </p:nvSpPr>
        <p:spPr>
          <a:xfrm>
            <a:off x="1143000" y="329184"/>
            <a:ext cx="7498080" cy="603504"/>
          </a:xfrm>
          <a:prstGeom prst="rect">
            <a:avLst/>
          </a:prstGeom>
          <a:noFill/>
          <a:ln/>
        </p:spPr>
        <p:txBody>
          <a:bodyPr wrap="square" lIns="0" tIns="0" rIns="0" bIns="0" rtlCol="0" anchor="ctr"/>
          <a:lstStyle/>
          <a:p>
            <a:pPr indent="0" marL="0">
              <a:buNone/>
            </a:pPr>
            <a:r>
              <a:rPr lang="en-US" sz="2600" b="1" dirty="0">
                <a:solidFill>
                  <a:srgbClr val="1F2937"/>
                </a:solidFill>
                <a:latin typeface="Arial" pitchFamily="34" charset="0"/>
                <a:ea typeface="Arial" pitchFamily="34" charset="-122"/>
                <a:cs typeface="Arial" pitchFamily="34" charset="-120"/>
              </a:rPr>
              <a:t>Before Week 19</a:t>
            </a:r>
            <a:endParaRPr lang="en-US" sz="2600" dirty="0"/>
          </a:p>
        </p:txBody>
      </p:sp>
      <p:sp>
        <p:nvSpPr>
          <p:cNvPr id="5" name="Shape 2"/>
          <p:cNvSpPr/>
          <p:nvPr/>
        </p:nvSpPr>
        <p:spPr>
          <a:xfrm>
            <a:off x="457200" y="1325880"/>
            <a:ext cx="8229600" cy="1207008"/>
          </a:xfrm>
          <a:prstGeom prst="roundRect">
            <a:avLst>
              <a:gd name="adj" fmla="val 6061"/>
            </a:avLst>
          </a:prstGeom>
          <a:solidFill>
            <a:srgbClr val="F1F5F9"/>
          </a:solidFill>
          <a:ln/>
          <a:effectLst>
            <a:outerShdw sx="100000" sy="100000" kx="0" ky="0" algn="bl" rotWithShape="0" blurRad="76200" dist="25400" dir="5400000">
              <a:srgbClr val="000000">
                <a:alpha val="12000"/>
              </a:srgbClr>
            </a:outerShdw>
          </a:effectLst>
        </p:spPr>
      </p:sp>
      <p:sp>
        <p:nvSpPr>
          <p:cNvPr id="6" name="Text 3"/>
          <p:cNvSpPr/>
          <p:nvPr/>
        </p:nvSpPr>
        <p:spPr>
          <a:xfrm>
            <a:off x="731520" y="1435608"/>
            <a:ext cx="7680960" cy="987552"/>
          </a:xfrm>
          <a:prstGeom prst="rect">
            <a:avLst/>
          </a:prstGeom>
          <a:noFill/>
          <a:ln/>
        </p:spPr>
        <p:txBody>
          <a:bodyPr wrap="square" lIns="0" tIns="0" rIns="0" bIns="0" rtlCol="0" anchor="t">
            <a:normAutofit/>
          </a:bodyPr>
          <a:lstStyle/>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Fix gaps peers flagged</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Finalize SBOM + signing + pipeline</a:t>
            </a:r>
            <a:endParaRPr lang="en-US" sz="1400" dirty="0"/>
          </a:p>
          <a:p>
            <a:pPr marL="342900" indent="-342900">
              <a:spcAft>
                <a:spcPts val="600"/>
              </a:spcAft>
              <a:buSzPct val="100000"/>
              <a:buChar char="•"/>
            </a:pPr>
            <a:r>
              <a:rPr lang="en-US" sz="1400" dirty="0">
                <a:solidFill>
                  <a:srgbClr val="1F2937"/>
                </a:solidFill>
                <a:latin typeface="Calibri" pitchFamily="34" charset="0"/>
                <a:ea typeface="Calibri" pitchFamily="34" charset="-122"/>
                <a:cs typeface="Calibri" pitchFamily="34" charset="-120"/>
              </a:rPr>
              <a:t>Rehearse the demo</a:t>
            </a:r>
            <a:endParaRPr lang="en-US" sz="1400" dirty="0"/>
          </a:p>
        </p:txBody>
      </p:sp>
      <p:sp>
        <p:nvSpPr>
          <p:cNvPr id="7" name="Text 4"/>
          <p:cNvSpPr/>
          <p:nvPr/>
        </p:nvSpPr>
        <p:spPr>
          <a:xfrm>
            <a:off x="457200" y="4800600"/>
            <a:ext cx="6949440" cy="274320"/>
          </a:xfrm>
          <a:prstGeom prst="rect">
            <a:avLst/>
          </a:prstGeom>
          <a:noFill/>
          <a:ln/>
        </p:spPr>
        <p:txBody>
          <a:bodyPr wrap="square" lIns="0" tIns="0" rIns="0" bIns="0" rtlCol="0" anchor="ctr"/>
          <a:lstStyle/>
          <a:p>
            <a:pPr indent="0" marL="0">
              <a:buNone/>
            </a:pPr>
            <a:r>
              <a:rPr lang="en-US" sz="900" dirty="0">
                <a:solidFill>
                  <a:srgbClr val="64748B"/>
                </a:solidFill>
                <a:latin typeface="Calibri" pitchFamily="34" charset="0"/>
                <a:ea typeface="Calibri" pitchFamily="34" charset="-122"/>
                <a:cs typeface="Calibri" pitchFamily="34" charset="-120"/>
              </a:rPr>
              <a:t>Software Security · Week 16</a:t>
            </a:r>
            <a:endParaRPr lang="en-US" sz="900" dirty="0"/>
          </a:p>
        </p:txBody>
      </p:sp>
      <p:pic>
        <p:nvPicPr>
          <p:cNvPr id="8" name="Image 1" descr="/Users/pop7/Library/CloudStorage/OneDrive-MonsterConnectCo.,Ltd/Lecture/KOSEN69 - software-security/slides/pptx/assets/logo-small.png">    </p:cNvPr>
          <p:cNvPicPr>
            <a:picLocks noChangeAspect="1"/>
          </p:cNvPicPr>
          <p:nvPr/>
        </p:nvPicPr>
        <p:blipFill>
          <a:blip r:embed="rId2"/>
          <a:stretch>
            <a:fillRect/>
          </a:stretch>
        </p:blipFill>
        <p:spPr>
          <a:xfrm>
            <a:off x="7882128" y="4700016"/>
            <a:ext cx="768096" cy="35661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1737360"/>
            <a:ext cx="7863840" cy="1097280"/>
          </a:xfrm>
          <a:prstGeom prst="rect">
            <a:avLst/>
          </a:prstGeom>
          <a:noFill/>
          <a:ln/>
        </p:spPr>
        <p:txBody>
          <a:bodyPr wrap="square" lIns="0" tIns="0" rIns="0" bIns="0" rtlCol="0" anchor="ctr"/>
          <a:lstStyle/>
          <a:p>
            <a:pPr indent="0" marL="0">
              <a:buNone/>
            </a:pPr>
            <a:r>
              <a:rPr lang="en-US" sz="4600" b="1" dirty="0">
                <a:solidFill>
                  <a:srgbClr val="1F2937"/>
                </a:solidFill>
                <a:latin typeface="Arial" pitchFamily="34" charset="0"/>
                <a:ea typeface="Arial" pitchFamily="34" charset="-122"/>
                <a:cs typeface="Arial" pitchFamily="34" charset="-120"/>
              </a:rPr>
              <a:t>Next: pre-final review (Week 17)</a:t>
            </a:r>
            <a:endParaRPr lang="en-US" sz="4600" dirty="0"/>
          </a:p>
        </p:txBody>
      </p:sp>
      <p:sp>
        <p:nvSpPr>
          <p:cNvPr id="3" name="Text 1"/>
          <p:cNvSpPr/>
          <p:nvPr/>
        </p:nvSpPr>
        <p:spPr>
          <a:xfrm>
            <a:off x="658368" y="2834640"/>
            <a:ext cx="7863840" cy="731520"/>
          </a:xfrm>
          <a:prstGeom prst="rect">
            <a:avLst/>
          </a:prstGeom>
          <a:noFill/>
          <a:ln/>
        </p:spPr>
        <p:txBody>
          <a:bodyPr wrap="square" lIns="0" tIns="0" rIns="0" bIns="0" rtlCol="0" anchor="ctr"/>
          <a:lstStyle/>
          <a:p>
            <a:pPr indent="0" marL="0">
              <a:buNone/>
            </a:pPr>
            <a:r>
              <a:rPr lang="en-US" sz="1800" dirty="0">
                <a:solidFill>
                  <a:srgbClr val="E35205"/>
                </a:solidFill>
                <a:latin typeface="Calibri" pitchFamily="34" charset="0"/>
                <a:ea typeface="Calibri" pitchFamily="34" charset="-122"/>
                <a:cs typeface="Calibri" pitchFamily="34" charset="-120"/>
              </a:rPr>
              <a:t>Then the final — Wk 18 written · Wk 19 capstone CTF</a:t>
            </a:r>
            <a:endParaRPr lang="en-US" sz="1800" dirty="0"/>
          </a:p>
        </p:txBody>
      </p:sp>
      <p:pic>
        <p:nvPicPr>
          <p:cNvPr id="4" name="Image 0" descr="/Users/pop7/Library/CloudStorage/OneDrive-MonsterConnectCo.,Ltd/Lecture/KOSEN69 - software-security/slides/pptx/assets/logo-small.png">    </p:cNvPr>
          <p:cNvPicPr>
            <a:picLocks noChangeAspect="1"/>
          </p:cNvPicPr>
          <p:nvPr/>
        </p:nvPicPr>
        <p:blipFill>
          <a:blip r:embed="rId1"/>
          <a:stretch>
            <a:fillRect/>
          </a:stretch>
        </p:blipFill>
        <p:spPr>
          <a:xfrm>
            <a:off x="7882128" y="4700016"/>
            <a:ext cx="768096" cy="35661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Security · Week 16</dc:title>
  <dc:subject>PptxGenJS Presentation</dc:subject>
  <dc:creator>Nutthakorn Chalaemwongwan</dc:creator>
  <cp:lastModifiedBy>Nutthakorn Chalaemwongwan</cp:lastModifiedBy>
  <cp:revision>1</cp:revision>
  <dcterms:created xsi:type="dcterms:W3CDTF">2026-08-13T18:47:18Z</dcterms:created>
  <dcterms:modified xsi:type="dcterms:W3CDTF">2026-08-13T18:47:18Z</dcterms:modified>
</cp:coreProperties>
</file>